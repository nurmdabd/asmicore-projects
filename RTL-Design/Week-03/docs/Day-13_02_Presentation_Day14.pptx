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"Over 14 days I built three RTL blocks, verified each in Icarus Verilog, wrote a specification and a verification plan for all three, and kept an issue log that includes the mistakes as well as the wins. The RTL turned out to be the easy part — the discipline around it is what this assignment actually taught me."</a:t>
            </a:r>
          </a:p>
          <a:p>
            <a:r>
              <a:t>Set expectations for the shape of the talk: two foundation slides, then one section per design, then the spec-and-verification half, then an honest closing on what is done versus what is only planned.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designs are deliberately ordered: a pure control FSM, then an FSM driving a datapath, then a pure datapath. Each one introduces a new class of correctness concern — state transitions, then timing, then pointer and count bookkeeping — so the bugs I could hit changed shape as I went.</a:t>
            </a:r>
          </a:p>
          <a:p>
            <a:r>
              <a:t>Point at the deliverables line and say the repo has a README that maps every file to the day that produced it, so the evaluator can navigate it without 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biggest mental shift coming in was that every assign and every always block is running all the time, simultaneously — the top-to-bottom order in the file means nothing. That reframing is what makes the two-block FSM style obvious rather than arbitrary: one clocked block that does nothing but update the state register, one combinational block that computes next state. Separating them removes a whole class of bugs.</a:t>
            </a:r>
          </a:p>
          <a:p>
            <a:r>
              <a:t>If asked to be concrete about non-synthesisable constructs: #10 delays, initial blocks, $display/$monitor, classes and $random, and ===/!== for X/Z checking — all simulation-only, none of them map to a physical structure.</a:t>
            </a:r>
          </a:p>
          <a:p>
            <a:r>
              <a:t>The Moore/Mealy distinction on this slide is not academic — it is exactly the decision that shaped RTL #1, which is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argument for separating the roles: if the same person designs and verifies a block, their mental model of "what it should do" is baked into both the RTL and the tests, so a misunderstanding of the spec passes both silently. A DV engineer writes the plan from the specification, deliberately not from reading the RTL, so their idea of correct behaviour isn't anchored to whatever the designer happened to build.</a:t>
            </a:r>
          </a:p>
          <a:p>
            <a:r>
              <a:t>Monitor versus scoreboard, since it's a likely question: the monitor observes and translates pin-level activity into transactions but never judges; the scoreboard judges by comparing against a reference model. Keeping them separate means interpretation and judgment can be debugged independently.</a:t>
            </a:r>
          </a:p>
          <a:p>
            <a:r>
              <a:t>This slide is the vocabulary the second half of the talk runs on — feature, Req-ID, checker, coverpoint all come from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interface table the way the spec does it — the rule I applied is that a port description must say when the signal is asserted and *what it causes*, not just restate the port's name. So detected isn't "the output flag," it's "pulses HIGH for exactly one cycle when the FSM confirms din has completed an occurrence of 1011, as a pure decode of the current state."</a:t>
            </a:r>
          </a:p>
          <a:p>
            <a:r>
              <a:t>Emphasise overlapping. It is the design's reason to exist, and it is what forced the design decision on the next slide. Non-overlapping would have been a simpler machine and a less interesting assignment.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FSM-explanation checklist item — every state's entry condition and output is on the slide.*</a:t>
            </a:r>
          </a:p>
          <a:p>
            <a:r>
              <a:t>Each state means "the longest suffix of the input seen so far that is also a prefix of 1011." That framing makes every transition derivable rather than memorised.</a:t>
            </a:r>
          </a:p>
          <a:p>
            <a:r>
              <a:t>The key design decision. The Day-2 paper exercise produced a 4-state table, built exactly as the assignment specifies its columns. But in that table detected is HIGH on the row where state is S101 and din is 1 — output depending on state and input, which is Mealy by definition. The Day-4 goal says Moore. A genuine Moore output needs a state that means "just matched," so I added the fifth state.</a:t>
            </a:r>
          </a:p>
          <a:p>
            <a:r>
              <a:t>If asked "did you consider the alternative?" — yes: keep four states and register the combinational condition (state==S101) &amp;&amp; din. That reproduces Moore timing and is glitch-free, and I confirmed it produces an identical waveform over 2000 random bits, zero mismatches. But it isn't structurally Moore, because its output is a registered copy of a Mealy condition, not a decode of state. So "which state means detected?" would have no answer. With the 5-state version the answer is S1011, and nothing else. Logged as ISSUE-D2-01.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*Corner-case checklist item, plus a short issue-log story — the long one is slide 9.*</a:t>
            </a:r>
          </a:p>
          <a:p>
            <a:r>
              <a:t>The overlap point first: I noticed the Day-4 smoke vector 1101011 contains only a single 1011, at bits 4–7. So the smoke test could pass without the overlapping behaviour — the design's stated purpose — ever being exercised. That is why there is a separate, self-checking overlap regression that asserts exactly two detections at the expected cycles rather than printing for me to eyeball.</a:t>
            </a:r>
          </a:p>
          <a:p>
            <a:r>
              <a:t>Now the trap. I briefly convinced myself the pulse fired in the same cycle as the 4th bit, because the original log printed post-edge values: on that row the state register had already advanced past S101, so detected=1 sat next to the advanced state and looked simultaneous. The tell was that the state on that row was no longer S101 — which can only be true one edge later. Fixing the log to print pre-edge made the one-cycle latency obvious.</a:t>
            </a:r>
          </a:p>
          <a:p>
            <a:r>
              <a:t>Takeaway, and it recurs on slide 9: **verify how your evidence is sampled before you trust what it appears to show.**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FSM+datapath pattern the day was built around. A pure FSM can't express "stay here for four cycles" — you'd need four states to say it, which doesn't scale. Splitting it means the case statement is just the fixed sequence and every timing question lives in the counter.</a:t>
            </a:r>
          </a:p>
          <a:p>
            <a:r>
              <a:t>Parameterising the durations is what makes the design testable: real traffic timings would make a simulation impractically long, so small values let a full loop run in 14 cycles. The counter is sized off MAX_DURATION, so raising a duration only requires touching that one parameter.</a:t>
            </a:r>
          </a:p>
          <a:p>
            <a:r>
              <a:t>The yellow-phase rule is a design decision I wrote down rather than left implicit — during both yellow phases the opposing road is red for the entire phase. There is never a cycle where both roads show anything but "one green or yellow, one red." Someone reading the RTL later should never have to guess whether that was intentional.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required issue-log item: one real problem, its cause, and its resolution, told start to finish.*</a:t>
            </a:r>
          </a:p>
          <a:p>
            <a:r>
              <a:t>The off-by-one itself is unremarkable. What makes it worth the slide is that my "run two full loops and compare them" check did not catch it — it hid it. The original testbench deasserted reset then logged inside a for loop of @(negedge clk), so the first logged row landed after the first active clock edge and the reset-loaded cycle was never printed. The buggy 5-cycle first phase printed as 4 rows. The correct 4-cycle later phase also printed as 4 rows. They looked consistent, so the comparison "passed."</a:t>
            </a:r>
          </a:p>
          <a:p>
            <a:r>
              <a:t>Worse — and this is the part that genuinely changed how I think — the same testbench run against the corrected RTL prints only 3 MAIN_GREEN rows, which would look like a failure of a correct design. A mis-sampled printout can both validate a broken design and reject a working one.</a:t>
            </a:r>
          </a:p>
          <a:p>
            <a:r>
              <a:t>The fix was two things: correct the reset load, and rewrite the logging into an always @(posedge clk) block that reads registered values in the cycle they're held, with the internal count exposed as a column so durations are read numerically instead of by counting rows. Only after fixing the test was the bug visible at all.</a:t>
            </a:r>
          </a:p>
          <a:p>
            <a:r>
              <a:t>It is now a named regression, RST_001, so it cannot come back silently.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 register is the one design decision that removes the classic full-versus-empty ambiguity. Both conditions genuinely make the pointers equal, so no amount of comparing them can distinguish the two; the alternative standard approach is an extra bit on each pointer, and I chose the count register because it's the simpler of the two and reads directly.</a:t>
            </a:r>
          </a:p>
          <a:p>
            <a:r>
              <a:t>The count-width detail is where a beginner FIFO usually breaks: pointers only need to address 0–7, which is 3 bits, but count must represent 0 through 8 inclusive — nine values — which needs 4. Getting that wrong makes full never assert.</a:t>
            </a:r>
          </a:p>
          <a:p>
            <a:r>
              <a:t>On dout: it's a combinational peek rather than a registered output, which keeps the design to exactly the four registers the assignment specifies. The trade-off is that when empty is high, dout shows stale leftover data. That is not a bug, but it is a contract — any consumer must gate on empty first — so I documented it in the RTL comments, the spec, and the smoke log rather than leaving it as an unstated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Corner-case checklist item.</a:t>
            </a:r>
          </a:p>
          <a:p>
            <a:r>
              <a:t>The elegance here is that qualifying the enables first means I never had to special-case the tricky combinations — they fall out of the same four-way case. That's worth saying out loud because it's a structural choice, not a lucky one.</a:t>
            </a:r>
          </a:p>
          <a:p>
            <a:r>
              <a:t>A test-plan gap I found and closed (ISSUE-D6-01): the assignment's specified smoke sequence is fill-completely-then-drain-completely, so it never asserts wr_en and rd_en in the same cycle — yet handling simultaneous read+write is separately, explicitly required. Implementing that logic without ever driving a cycle that exercises it means it's written, not verified. So I extended the testbench with three added cycles covering the full, partial, and empty sub-cases. Not an RTL bug — a coverage gap, and the same principle the Day-9 and Day-12 traceability work is built on, in miniature: a requirement with no test behind it isn't confirmed.</a:t>
            </a:r>
          </a:p>
          <a:p>
            <a:r>
              <a:t>The FIFO RTL itself was correct on the first simulation run. Worth being honest that not every design needs a war 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of the six are genuinely self-checking — the overlap test and the multi-wrap test assert their results rather than printing for a human to read. The multi-wrap one is the test I lean on hardest, because it carries a software reference queue: it's the closest thing in this set to a real scoreboard.</a:t>
            </a:r>
          </a:p>
          <a:p>
            <a:r>
              <a:t>Two of these regressions exist because writing the Day-7 corner-case lists made me notice untested assumptions rather than untested code. ISSUE-D7-01: the traffic light's minimum duration of 1 cycle had only ever been reasoned about, never simulated — so I overrode MAIN_YELLOW_TIME to 1 and confirmed the phase occupies exactly one cycle with no skip and no extra hang. ISSUE-D7-02: pointer wraparound had only been exercised once per pointer, and a systematic error at the wrap seam could plausibly hide on a first pass — so I ran three consecutive wraps.</a:t>
            </a:r>
          </a:p>
          <a:p>
            <a:r>
              <a:t>Honest detail worth volunteering: while building the multi-wrap testbench I found a bug in the testbench — inconsistent wait patterns between the write and read tasks that would have silently dropped the last write of every fill phase. I caught it by reasoning through the task sequencing before trusting the result. A testbench bug doesn't announce itself the way a compile error does.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Spec-walkthrough checklist item — pick the FIFO and walk it live.</a:t>
            </a:r>
          </a:p>
          <a:p>
            <a:r>
              <a:t>Take the FIFO's interface table as the example. full is not "the full flag" — it's "asserts combinationally whenever count == DEPTH, and blocks any write attempted while it is high." A DV engineer can write a test from that sentence. They cannot write one from "the full flag."</a:t>
            </a:r>
          </a:p>
          <a:p>
            <a:r>
              <a:t>The Day-8 re-read pass is worth mentioning here, because it's the part of spec writing that surprised me. Writing a rigorous spec for code that was already "done" surfaced three real inconsistencies that had been sitting unnoticed (ISSUE-D8-01) — a stale timing comment, a comment citing the wrong issue ID, and a leftover template artifact with a missing ` timescale ``. None were logic bugs, but a comment that cross-references the wrong issue quietly misleads the next person who tries to understand why a line is written that way.</a:t>
            </a:r>
          </a:p>
          <a:p>
            <a:r>
              <a:t>The lesson I'd state plainly: a bug that is found but not fixed is almost as bad as one never found, if nothing forces a revisit. Scheduling a deliberate re-read is what caught it.</a:t>
            </a:r>
          </a:p>
          <a:p>
            <a:r>
              <a:t>Known follow-up, stated rather than hidden: the spec document predates the 5-state Moore rewrite and the traffic-light reset fix, and does not yet carry the Day-12 Req-ID tables. Reconciling it is the top remaining task.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*DV-concepts checklist item — define feature, Req-ID, checker, coverpoint.*</a:t>
            </a:r>
          </a:p>
          <a:p>
            <a:r>
              <a:t>Granularity is a real skill, not a formality. Day-3's feature 4 bundled two independently testable behaviours — the flag asserting, and a write actually being blocked as a consequence. You can break one without the other, so it split into CORNER_001 and NEG_001.</a:t>
            </a:r>
          </a:p>
          <a:p>
            <a:r>
              <a:t>More significant: there was no empty/read-blocking feature anywhere in the original list. Only the full/write side existed. I found it by deliberately asking "is there a mirror-image feature for every one-sided one?" — a habit worth naming, because that kind of omission is invisible until you go looking for its opposite. Five features became eight (ISSUE-D9-01).</a:t>
            </a:r>
          </a:p>
          <a:p>
            <a:r>
              <a:t>One self-correction I'd volunteer (ISSUE-D10-01): I nearly assigned count_unchanged_on_simultaneous_read_write an expected-value checker, because that's literally how Day 6 happened to test it. That's reasoning from test history instead of from the property. "Count doesn't change when both enables fire" should hold on every cycle regardless of what stimulus produced the condition — that's assertion-shaped. **Checker type follows the nature of the property, not the stimulus that first exposed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*Coverage-model checklist item: one coverpoint, explained in depth, and why it matters.*</a:t>
            </a:r>
          </a:p>
          <a:p>
            <a:r>
              <a:t>This is the coverage model I can defend hardest, because the reasoning isn't borrowed. Folding 1 and 7 into a mid bin would mean a test suite could report full coverage of count while never once exercising the value where an off-by-one would actually show. I already got bitten by an off-by-one sitting one step away from a boundary in the traffic light — so treating the adjacent values as their own bins is a direct response to a bug I actually saw in this program, not a textbook precaution I copied.</a:t>
            </a:r>
          </a:p>
          <a:p>
            <a:r>
              <a:t>If asked about the cross: wr_en × rd_en gives four bins — neither, write only, read only, both — and the "both" bin is the one that matters, because it's the case the assignment's own smoke sequence never generates.</a:t>
            </a:r>
          </a:p>
          <a:p>
            <a:r>
              <a:t>Worth flagging one nuance for the traffic light's mutual-exclusion coverage: illegal_both_green = {1,1} is a bin you never want hit. Filling it would be a failure, not progress toward closure. The goal there is confirming the assertion had many opportunities to fire and never did.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honest slide in the deck, and I'd rather present it than have someone find it.</a:t>
            </a:r>
          </a:p>
          <a:p>
            <a:r>
              <a:t>The audit's real value wasn't tidying up tables. It was discovering that the process I'd built did not automatically generalise. The FIFO got the full treatment across three days because that's what the assignment's exercises name; the other two designs quietly didn't, and nothing would have forced a revisit except deliberately running the check.</a:t>
            </a:r>
          </a:p>
          <a:p>
            <a:r>
              <a:t>The specific consequence is the one worth dwelling on. ISSUE-D5-02 was found, root-caused, fixed, and re-simulated — and then had *nothing in the plan requiring it to be checked again*. It was a one-time fix, not a regression. Now it's RST_001 for the traffic light, with a coverage bin that confirms reset loads MAIN_GREEN_TIME-1, so a future change that reintroduces the bug has a named test whose failure catches it.</a:t>
            </a:r>
          </a:p>
          <a:p>
            <a:r>
              <a:t>That's the difference between fixing a bug and closing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explicit that this is a planning deliverable, not a measured-coverage one. Claiming closure I haven't measured would undercut everything else in the talk — and "high coverage doesn't guarantee correctness, but low coverage guarantees insufficient testing" cuts both ways: unmeasured coverage guarantees nothing at all.</a:t>
            </a:r>
          </a:p>
          <a:p>
            <a:r>
              <a:t>The concrete next step is mechanical and well-defined, which is itself a sign the planning work was worth doing: every row in those tables already names its checker type and its coverage item, so building the real testbench is transcription plus a reference model, not fresh design thinking.</a:t>
            </a:r>
          </a:p>
          <a:p>
            <a:r>
              <a:t>The three smoke tests are directed and read by eye; only two of the six regressions are self-checking. Turning the rest into automated checks would be the first thing I'd 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is intentionally a scaffold. Fill in each prompt honestly in your own words before Day 14 — it has to come from the person who did the work, and reading it aloud is a checklist requirement.*</a:t>
            </a:r>
          </a:p>
          <a:p>
            <a:r>
              <a:t>- What I understood well: —</a:t>
            </a:r>
          </a:p>
          <a:p>
            <a:r>
              <a:t>- What was genuinely difficult: —</a:t>
            </a:r>
          </a:p>
          <a:p>
            <a:r>
              <a:t>- The most important thing I learned: —</a:t>
            </a:r>
          </a:p>
          <a:p>
            <a:r>
              <a:t>- One thing I would do differently: —</a:t>
            </a:r>
          </a:p>
          <a:p>
            <a:r>
              <a:t>- One question I still have: —</a:t>
            </a:r>
          </a:p>
          <a:p>
            <a:r>
              <a:t>Close by returning to the through-line: the three designs are correct, but the part I'd defend hardest is the honesty of the record around them — the issue log includes the entries where I was wrong, the coverage model exists because of a bug I actually hit, and the Day-12 audit is on a slide precisely because it found a gap in my own process.</a:t>
            </a:r>
          </a:p>
          <a:p>
            <a:r>
              <a:t>Then open for Q&amp;A. Be ready to jump to slide 6 (the state diagram) and slide 9 (the issue story) — those draw the most questions. Backup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not presented unless asked. Ten arcs = 5 states × 2 input values, and 100% transition coverage means all ten traversed, including both self-loops.</a:t>
            </a:r>
          </a:p>
          <a:p>
            <a:r>
              <a:t>For an FSM the transition table is the authoritative specification, not the diagram — the diagram is a visual aid, and if they ever disagree the table is what gets implemented.</a:t>
            </a:r>
          </a:p>
          <a:p>
            <a:r>
              <a:t>The overlap arc is the interesting one: for 1011 the only proper suffix that is also a prefix is the trailing 1, which is why S1011 behaves exactly like S1 on the next input.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The categorisation is the point: only two entries are genuine RTL bugs. The rest are testbench bugs, design decisions that needed resolving, gaps in the plan rather than the code, and places I corrected my own earlier reasoning.</a:t>
            </a:r>
          </a:p>
          <a:p>
            <a:r>
              <a:t>That distribution is honest and, I think, realistic — most of what goes wrong in verification isn't the design being wrong, it's the process around it having a hole in it.</a:t>
            </a:r>
          </a:p>
          <a:p>
            <a:r>
              <a:t>If asked which single entry I'd point to: ISSUE-D5-03, the testbench that masked a real bug. It's the one that changed how I read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965960"/>
            <a:ext cx="9966960" cy="1737360"/>
          </a:xfrm>
          <a:prstGeom prst="rect">
            <a:avLst/>
          </a:prstGeom>
          <a:noFill/>
        </p:spPr>
        <p:txBody>
          <a:bodyPr wrap="square" anchor="t" lIns="0" rIns="0" tIns="0" bIns="0">
            <a:spAutoFit/>
          </a:bodyPr>
          <a:lstStyle/>
          <a:p>
            <a:pPr>
              <a:lnSpc>
                <a:spcPct val="106000"/>
              </a:lnSpc>
            </a:pPr>
            <a:r>
              <a:rPr sz="4100" b="1" i="0">
                <a:solidFill>
                  <a:srgbClr val="FFFFFF"/>
                </a:solidFill>
                <a:latin typeface="Segoe UI"/>
              </a:rPr>
              <a:t>RTL &amp; DV Fundamentals — Three Designs, One Verification Flow</a:t>
            </a:r>
          </a:p>
        </p:txBody>
      </p:sp>
      <p:sp>
        <p:nvSpPr>
          <p:cNvPr id="5" name="Rectangle 4"/>
          <p:cNvSpPr/>
          <p:nvPr/>
        </p:nvSpPr>
        <p:spPr>
          <a:xfrm>
            <a:off x="1051560" y="3913632"/>
            <a:ext cx="1371600" cy="45720"/>
          </a:xfrm>
          <a:prstGeom prst="rect">
            <a:avLst/>
          </a:prstGeom>
          <a:solidFill>
            <a:srgbClr val="5FC8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261104"/>
            <a:ext cx="9692640" cy="1554480"/>
          </a:xfrm>
          <a:prstGeom prst="rect">
            <a:avLst/>
          </a:prstGeom>
          <a:noFill/>
        </p:spPr>
        <p:txBody>
          <a:bodyPr wrap="square" anchor="t" lIns="0" rIns="0" tIns="0" bIns="0">
            <a:spAutoFit/>
          </a:bodyPr>
          <a:lstStyle/>
          <a:p>
            <a:pPr>
              <a:lnSpc>
                <a:spcPct val="115000"/>
              </a:lnSpc>
              <a:spcAft>
                <a:spcPts val="700"/>
              </a:spcAft>
            </a:pPr>
            <a:r>
              <a:rPr sz="1550" b="0" i="0">
                <a:solidFill>
                  <a:srgbClr val="C3CED8"/>
                </a:solidFill>
                <a:latin typeface="Segoe UI"/>
              </a:rPr>
              <a:t>Sequence Detector · Traffic Light Controller · Synchronous FIFO</a:t>
            </a:r>
          </a:p>
          <a:p>
            <a:pPr>
              <a:lnSpc>
                <a:spcPct val="115000"/>
              </a:lnSpc>
              <a:spcAft>
                <a:spcPts val="700"/>
              </a:spcAft>
            </a:pPr>
            <a:r>
              <a:rPr sz="1550" b="0" i="0">
                <a:solidFill>
                  <a:srgbClr val="C3CED8"/>
                </a:solidFill>
                <a:latin typeface="Segoe UI"/>
              </a:rPr>
              <a:t>Designed, simulated, specified, and verification-planned</a:t>
            </a:r>
          </a:p>
          <a:p>
            <a:pPr>
              <a:lnSpc>
                <a:spcPct val="115000"/>
              </a:lnSpc>
              <a:spcAft>
                <a:spcPts val="700"/>
              </a:spcAft>
            </a:pPr>
            <a:r>
              <a:rPr sz="1550" b="0" i="0">
                <a:solidFill>
                  <a:srgbClr val="C3CED8"/>
                </a:solidFill>
                <a:latin typeface="Segoe UI"/>
              </a:rPr>
              <a:t>Icarus Verilog v12.0 · 6 simulations · 13 logged issues</a:t>
            </a:r>
          </a:p>
          <a:p>
            <a:pPr>
              <a:lnSpc>
                <a:spcPct val="115000"/>
              </a:lnSpc>
              <a:spcAft>
                <a:spcPts val="700"/>
              </a:spcAft>
            </a:pPr>
            <a:r>
              <a:rPr sz="1550" b="0" i="0">
                <a:solidFill>
                  <a:srgbClr val="C3CED8"/>
                </a:solidFill>
                <a:latin typeface="Segoe UI"/>
              </a:rPr>
              <a:t>Nur Mohammad Abdullah — Asmicore Semiconductor Internship</a:t>
            </a:r>
          </a:p>
        </p:txBody>
      </p:sp>
      <p:sp>
        <p:nvSpPr>
          <p:cNvPr id="7" name="TextBox 6"/>
          <p:cNvSpPr txBox="1"/>
          <p:nvPr/>
        </p:nvSpPr>
        <p:spPr>
          <a:xfrm>
            <a:off x="1051560" y="6053328"/>
            <a:ext cx="9692640" cy="365760"/>
          </a:xfrm>
          <a:prstGeom prst="rect">
            <a:avLst/>
          </a:prstGeom>
          <a:noFill/>
        </p:spPr>
        <p:txBody>
          <a:bodyPr wrap="square" anchor="t" lIns="0" rIns="0" tIns="0" bIns="0">
            <a:spAutoFit/>
          </a:bodyPr>
          <a:lstStyle/>
          <a:p>
            <a:r>
              <a:rPr sz="1100">
                <a:solidFill>
                  <a:srgbClr val="8A96A3"/>
                </a:solidFill>
                <a:latin typeface="Segoe UI"/>
              </a:rPr>
              <a:t>Asmicore Semiconductor  ·  Internship Program  ·  Day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OVERVIEW</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What I Built, and What Ships With It</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Sequence Detector</a:t>
            </a:r>
            <a:r>
              <a:rPr sz="1900" b="0" i="0">
                <a:solidFill>
                  <a:srgbClr val="374553"/>
                </a:solidFill>
                <a:latin typeface="Segoe UI"/>
              </a:rPr>
              <a:t> — pure control FSM (overlapping </a:t>
            </a:r>
            <a:r>
              <a:rPr sz="1750" b="0" i="0">
                <a:solidFill>
                  <a:srgbClr val="0B5C64"/>
                </a:solidFill>
                <a:latin typeface="Consolas"/>
              </a:rPr>
              <a:t>1011</a:t>
            </a:r>
            <a:r>
              <a:rPr sz="1900" b="0" i="0">
                <a:solidFill>
                  <a:srgbClr val="374553"/>
                </a:solidFill>
                <a:latin typeface="Segoe UI"/>
              </a:rPr>
              <a:t>)</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Traffic Light</a:t>
            </a:r>
            <a:r>
              <a:rPr sz="1900" b="0" i="0">
                <a:solidFill>
                  <a:srgbClr val="374553"/>
                </a:solidFill>
                <a:latin typeface="Segoe UI"/>
              </a:rPr>
              <a:t> — FSM + datapath (timed phases via a down-counter)</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Synchronous FIFO</a:t>
            </a:r>
            <a:r>
              <a:rPr sz="1900" b="0" i="0">
                <a:solidFill>
                  <a:srgbClr val="374553"/>
                </a:solidFill>
                <a:latin typeface="Segoe UI"/>
              </a:rPr>
              <a:t> — pure datapath (pointers + count)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Per design: RTL → smoke test → regression → spec → features → checkers → coverage</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Deliverables: RTL, testbenches, </a:t>
            </a:r>
            <a:r>
              <a:rPr sz="1750" b="0" i="0">
                <a:solidFill>
                  <a:srgbClr val="0B5C64"/>
                </a:solidFill>
                <a:latin typeface="Consolas"/>
              </a:rPr>
              <a:t>RTL_Specifications.docx</a:t>
            </a:r>
            <a:r>
              <a:rPr sz="1900" b="0" i="0">
                <a:solidFill>
                  <a:srgbClr val="374553"/>
                </a:solidFill>
                <a:latin typeface="Segoe UI"/>
              </a:rPr>
              <a:t>, Knowledge Base, Issue Log</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FOUNDATIONS  ·  STUDY BLOCK 1</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What RTL Actually Is — and Why FSMs Dominate Control Logic</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RTL sits between behavioural description and gate-level netlist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Flow: </a:t>
            </a:r>
            <a:r>
              <a:rPr sz="1900" b="1" i="0">
                <a:solidFill>
                  <a:srgbClr val="16202B"/>
                </a:solidFill>
                <a:latin typeface="Segoe UI"/>
              </a:rPr>
              <a:t>RTL → synthesis → place &amp; route → GDSII → fab</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HDL describes </a:t>
            </a:r>
            <a:r>
              <a:rPr sz="1900" b="0" i="1">
                <a:solidFill>
                  <a:srgbClr val="374553"/>
                </a:solidFill>
                <a:latin typeface="Segoe UI"/>
              </a:rPr>
              <a:t>concurrent structure</a:t>
            </a:r>
            <a:r>
              <a:rPr sz="1900" b="0" i="0">
                <a:solidFill>
                  <a:srgbClr val="374553"/>
                </a:solidFill>
                <a:latin typeface="Segoe UI"/>
              </a:rPr>
              <a:t>, not a sequence of instructions</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logic</a:t>
            </a:r>
            <a:r>
              <a:rPr sz="1900" b="0" i="0">
                <a:solidFill>
                  <a:srgbClr val="374553"/>
                </a:solidFill>
                <a:latin typeface="Segoe UI"/>
              </a:rPr>
              <a:t> is the modern default; </a:t>
            </a:r>
            <a:r>
              <a:rPr sz="1750" b="0" i="0">
                <a:solidFill>
                  <a:srgbClr val="0B5C64"/>
                </a:solidFill>
                <a:latin typeface="Consolas"/>
              </a:rPr>
              <a:t>always_ff</a:t>
            </a:r>
            <a:r>
              <a:rPr sz="1900" b="0" i="0">
                <a:solidFill>
                  <a:srgbClr val="374553"/>
                </a:solidFill>
                <a:latin typeface="Segoe UI"/>
              </a:rPr>
              <a:t> is the only place state changes</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Moore</a:t>
            </a:r>
            <a:r>
              <a:rPr sz="1900" b="0" i="0">
                <a:solidFill>
                  <a:srgbClr val="374553"/>
                </a:solidFill>
                <a:latin typeface="Segoe UI"/>
              </a:rPr>
              <a:t> = output from state alone · </a:t>
            </a:r>
            <a:r>
              <a:rPr sz="1900" b="1" i="0">
                <a:solidFill>
                  <a:srgbClr val="16202B"/>
                </a:solidFill>
                <a:latin typeface="Segoe UI"/>
              </a:rPr>
              <a:t>Mealy</a:t>
            </a:r>
            <a:r>
              <a:rPr sz="1900" b="0" i="0">
                <a:solidFill>
                  <a:srgbClr val="374553"/>
                </a:solidFill>
                <a:latin typeface="Segoe UI"/>
              </a:rPr>
              <a:t> = output from state </a:t>
            </a:r>
            <a:r>
              <a:rPr sz="1900" b="0" i="1">
                <a:solidFill>
                  <a:srgbClr val="374553"/>
                </a:solidFill>
                <a:latin typeface="Segoe UI"/>
              </a:rPr>
              <a:t>and</a:t>
            </a:r>
            <a:r>
              <a:rPr sz="1900" b="0" i="0">
                <a:solidFill>
                  <a:srgbClr val="374553"/>
                </a:solidFill>
                <a:latin typeface="Segoe UI"/>
              </a:rPr>
              <a:t> input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Encoding trade-offs: binary (compact) · one-hot (fast decode) · gray (low noise)</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FOUNDATIONS  ·  STUDY BLOCK 2</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Why Verification Is Its Own Discipline</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Verification:</a:t>
            </a:r>
            <a:r>
              <a:rPr sz="1900" b="0" i="0">
                <a:solidFill>
                  <a:srgbClr val="374553"/>
                </a:solidFill>
                <a:latin typeface="Segoe UI"/>
              </a:rPr>
              <a:t> did we build the design right? · </a:t>
            </a:r>
            <a:r>
              <a:rPr sz="1900" b="1" i="0">
                <a:solidFill>
                  <a:srgbClr val="16202B"/>
                </a:solidFill>
                <a:latin typeface="Segoe UI"/>
              </a:rPr>
              <a:t>Validation:</a:t>
            </a:r>
            <a:r>
              <a:rPr sz="1900" b="0" i="0">
                <a:solidFill>
                  <a:srgbClr val="374553"/>
                </a:solidFill>
                <a:latin typeface="Segoe UI"/>
              </a:rPr>
              <a:t> did we build the right design?</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You cannot simulate every input — state-space explosion is why coverage exists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Testbench anatomy: </a:t>
            </a:r>
            <a:r>
              <a:rPr sz="1900" b="1" i="0">
                <a:solidFill>
                  <a:srgbClr val="16202B"/>
                </a:solidFill>
                <a:latin typeface="Segoe UI"/>
              </a:rPr>
              <a:t>stimulus → DUT → monitor → checker/scoreboard → coverage</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Directed tests hit the corners you know; random tests find the ones you didn't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Assertions fire </a:t>
            </a:r>
            <a:r>
              <a:rPr sz="1900" b="0" i="1">
                <a:solidFill>
                  <a:srgbClr val="374553"/>
                </a:solidFill>
                <a:latin typeface="Segoe UI"/>
              </a:rPr>
              <a:t>every</a:t>
            </a:r>
            <a:r>
              <a:rPr sz="1900" b="0" i="0">
                <a:solidFill>
                  <a:srgbClr val="374553"/>
                </a:solidFill>
                <a:latin typeface="Segoe UI"/>
              </a:rPr>
              <a:t> cycle, automatically — manual checks fire only where you remembered</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Cost of a bug grows ~10× at each stage it escapes</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#1  ·  SEQUENCE DETECTOR</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Sequence Detector — Overlapping </a:t>
            </a:r>
            <a:r>
              <a:rPr sz="2750" b="1" i="0">
                <a:solidFill>
                  <a:srgbClr val="0B5C64"/>
                </a:solidFill>
                <a:latin typeface="Consolas"/>
              </a:rPr>
              <a:t>1011</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Serial input </a:t>
            </a:r>
            <a:r>
              <a:rPr sz="1750" b="0" i="0">
                <a:solidFill>
                  <a:srgbClr val="0B5C64"/>
                </a:solidFill>
                <a:latin typeface="Consolas"/>
              </a:rPr>
              <a:t>din</a:t>
            </a:r>
            <a:r>
              <a:rPr sz="1900" b="0" i="0">
                <a:solidFill>
                  <a:srgbClr val="374553"/>
                </a:solidFill>
                <a:latin typeface="Segoe UI"/>
              </a:rPr>
              <a:t>, one bit per cycle; </a:t>
            </a:r>
            <a:r>
              <a:rPr sz="1750" b="0" i="0">
                <a:solidFill>
                  <a:srgbClr val="0B5C64"/>
                </a:solidFill>
                <a:latin typeface="Consolas"/>
              </a:rPr>
              <a:t>detected</a:t>
            </a:r>
            <a:r>
              <a:rPr sz="1900" b="0" i="0">
                <a:solidFill>
                  <a:srgbClr val="374553"/>
                </a:solidFill>
                <a:latin typeface="Segoe UI"/>
              </a:rPr>
              <a:t> pulses once per match</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"Overlapping"</a:t>
            </a:r>
            <a:r>
              <a:rPr sz="1900" b="0" i="0">
                <a:solidFill>
                  <a:srgbClr val="374553"/>
                </a:solidFill>
                <a:latin typeface="Segoe UI"/>
              </a:rPr>
              <a:t> is the whole point: </a:t>
            </a:r>
            <a:r>
              <a:rPr sz="1750" b="0" i="0">
                <a:solidFill>
                  <a:srgbClr val="0B5C64"/>
                </a:solidFill>
                <a:latin typeface="Consolas"/>
              </a:rPr>
              <a:t>1011011</a:t>
            </a:r>
            <a:r>
              <a:rPr sz="1900" b="0" i="0">
                <a:solidFill>
                  <a:srgbClr val="374553"/>
                </a:solidFill>
                <a:latin typeface="Segoe UI"/>
              </a:rPr>
              <a:t> contains </a:t>
            </a:r>
            <a:r>
              <a:rPr sz="1900" b="1" i="0">
                <a:solidFill>
                  <a:srgbClr val="16202B"/>
                </a:solidFill>
                <a:latin typeface="Segoe UI"/>
              </a:rPr>
              <a:t>two</a:t>
            </a:r>
            <a:r>
              <a:rPr sz="1900" b="0" i="0">
                <a:solidFill>
                  <a:srgbClr val="374553"/>
                </a:solidFill>
                <a:latin typeface="Segoe UI"/>
              </a:rPr>
              <a:t> matches sharing the middle </a:t>
            </a:r>
            <a:r>
              <a:rPr sz="1750" b="0" i="0">
                <a:solidFill>
                  <a:srgbClr val="0B5C64"/>
                </a:solidFill>
                <a:latin typeface="Consolas"/>
              </a:rPr>
              <a:t>1</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Interface: </a:t>
            </a:r>
            <a:r>
              <a:rPr sz="1750" b="0" i="0">
                <a:solidFill>
                  <a:srgbClr val="0B5C64"/>
                </a:solidFill>
                <a:latin typeface="Consolas"/>
              </a:rPr>
              <a:t>clk</a:t>
            </a:r>
            <a:r>
              <a:rPr sz="1900" b="0" i="0">
                <a:solidFill>
                  <a:srgbClr val="374553"/>
                </a:solidFill>
                <a:latin typeface="Segoe UI"/>
              </a:rPr>
              <a:t>, </a:t>
            </a:r>
            <a:r>
              <a:rPr sz="1750" b="0" i="0">
                <a:solidFill>
                  <a:srgbClr val="0B5C64"/>
                </a:solidFill>
                <a:latin typeface="Consolas"/>
              </a:rPr>
              <a:t>rst_n</a:t>
            </a:r>
            <a:r>
              <a:rPr sz="1900" b="0" i="0">
                <a:solidFill>
                  <a:srgbClr val="374553"/>
                </a:solidFill>
                <a:latin typeface="Segoe UI"/>
              </a:rPr>
              <a:t> (async, active-low), </a:t>
            </a:r>
            <a:r>
              <a:rPr sz="1750" b="0" i="0">
                <a:solidFill>
                  <a:srgbClr val="0B5C64"/>
                </a:solidFill>
                <a:latin typeface="Consolas"/>
              </a:rPr>
              <a:t>din</a:t>
            </a:r>
            <a:r>
              <a:rPr sz="1900" b="0" i="0">
                <a:solidFill>
                  <a:srgbClr val="374553"/>
                </a:solidFill>
                <a:latin typeface="Segoe UI"/>
              </a:rPr>
              <a:t> → </a:t>
            </a:r>
            <a:r>
              <a:rPr sz="1750" b="0" i="0">
                <a:solidFill>
                  <a:srgbClr val="0B5C64"/>
                </a:solidFill>
                <a:latin typeface="Consolas"/>
              </a:rPr>
              <a:t>detected</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detected</a:t>
            </a:r>
            <a:r>
              <a:rPr sz="1900" b="0" i="0">
                <a:solidFill>
                  <a:srgbClr val="374553"/>
                </a:solidFill>
                <a:latin typeface="Segoe UI"/>
              </a:rPr>
              <a:t> — active-high, exactly </a:t>
            </a:r>
            <a:r>
              <a:rPr sz="1900" b="1" i="0">
                <a:solidFill>
                  <a:srgbClr val="16202B"/>
                </a:solidFill>
                <a:latin typeface="Segoe UI"/>
              </a:rPr>
              <a:t>one cycle</a:t>
            </a:r>
            <a:r>
              <a:rPr sz="1900" b="0" i="0">
                <a:solidFill>
                  <a:srgbClr val="374553"/>
                </a:solidFill>
                <a:latin typeface="Segoe UI"/>
              </a:rPr>
              <a:t>, Moore output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Async reset chosen so the FSM has a known state even before the clock runs</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#1  ·  SEQUENCE DETECTOR</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Five States, Because Four Would Be Mealy</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IDLE</a:t>
            </a:r>
            <a:r>
              <a:rPr sz="1900" b="0" i="0">
                <a:solidFill>
                  <a:srgbClr val="374553"/>
                </a:solidFill>
                <a:latin typeface="Segoe UI"/>
              </a:rPr>
              <a:t> — no progress · output </a:t>
            </a:r>
            <a:r>
              <a:rPr sz="1900" b="1" i="0">
                <a:solidFill>
                  <a:srgbClr val="16202B"/>
                </a:solidFill>
                <a:latin typeface="Segoe UI"/>
              </a:rPr>
              <a:t>0</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S1</a:t>
            </a:r>
            <a:r>
              <a:rPr sz="1900" b="0" i="0">
                <a:solidFill>
                  <a:srgbClr val="374553"/>
                </a:solidFill>
                <a:latin typeface="Segoe UI"/>
              </a:rPr>
              <a:t> — seen </a:t>
            </a:r>
            <a:r>
              <a:rPr sz="1750" b="0" i="0">
                <a:solidFill>
                  <a:srgbClr val="0B5C64"/>
                </a:solidFill>
                <a:latin typeface="Consolas"/>
              </a:rPr>
              <a:t>1</a:t>
            </a:r>
            <a:r>
              <a:rPr sz="1900" b="0" i="0">
                <a:solidFill>
                  <a:srgbClr val="374553"/>
                </a:solidFill>
                <a:latin typeface="Segoe UI"/>
              </a:rPr>
              <a:t> · output </a:t>
            </a:r>
            <a:r>
              <a:rPr sz="1900" b="1" i="0">
                <a:solidFill>
                  <a:srgbClr val="16202B"/>
                </a:solidFill>
                <a:latin typeface="Segoe UI"/>
              </a:rPr>
              <a:t>0</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S10</a:t>
            </a:r>
            <a:r>
              <a:rPr sz="1900" b="0" i="0">
                <a:solidFill>
                  <a:srgbClr val="374553"/>
                </a:solidFill>
                <a:latin typeface="Segoe UI"/>
              </a:rPr>
              <a:t> — seen </a:t>
            </a:r>
            <a:r>
              <a:rPr sz="1750" b="0" i="0">
                <a:solidFill>
                  <a:srgbClr val="0B5C64"/>
                </a:solidFill>
                <a:latin typeface="Consolas"/>
              </a:rPr>
              <a:t>10</a:t>
            </a:r>
            <a:r>
              <a:rPr sz="1900" b="0" i="0">
                <a:solidFill>
                  <a:srgbClr val="374553"/>
                </a:solidFill>
                <a:latin typeface="Segoe UI"/>
              </a:rPr>
              <a:t> · output </a:t>
            </a:r>
            <a:r>
              <a:rPr sz="1900" b="1" i="0">
                <a:solidFill>
                  <a:srgbClr val="16202B"/>
                </a:solidFill>
                <a:latin typeface="Segoe UI"/>
              </a:rPr>
              <a:t>0</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S101</a:t>
            </a:r>
            <a:r>
              <a:rPr sz="1900" b="0" i="0">
                <a:solidFill>
                  <a:srgbClr val="374553"/>
                </a:solidFill>
                <a:latin typeface="Segoe UI"/>
              </a:rPr>
              <a:t> — seen </a:t>
            </a:r>
            <a:r>
              <a:rPr sz="1750" b="0" i="0">
                <a:solidFill>
                  <a:srgbClr val="0B5C64"/>
                </a:solidFill>
                <a:latin typeface="Consolas"/>
              </a:rPr>
              <a:t>101</a:t>
            </a:r>
            <a:r>
              <a:rPr sz="1900" b="0" i="0">
                <a:solidFill>
                  <a:srgbClr val="374553"/>
                </a:solidFill>
                <a:latin typeface="Segoe UI"/>
              </a:rPr>
              <a:t>, one more </a:t>
            </a:r>
            <a:r>
              <a:rPr sz="1750" b="0" i="0">
                <a:solidFill>
                  <a:srgbClr val="0B5C64"/>
                </a:solidFill>
                <a:latin typeface="Consolas"/>
              </a:rPr>
              <a:t>1</a:t>
            </a:r>
            <a:r>
              <a:rPr sz="1900" b="0" i="0">
                <a:solidFill>
                  <a:srgbClr val="374553"/>
                </a:solidFill>
                <a:latin typeface="Segoe UI"/>
              </a:rPr>
              <a:t> completes it · output </a:t>
            </a:r>
            <a:r>
              <a:rPr sz="1900" b="1" i="0">
                <a:solidFill>
                  <a:srgbClr val="16202B"/>
                </a:solidFill>
                <a:latin typeface="Segoe UI"/>
              </a:rPr>
              <a:t>0</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S1011</a:t>
            </a:r>
            <a:r>
              <a:rPr sz="1900" b="0" i="0">
                <a:solidFill>
                  <a:srgbClr val="374553"/>
                </a:solidFill>
                <a:latin typeface="Segoe UI"/>
              </a:rPr>
              <a:t> — </a:t>
            </a:r>
            <a:r>
              <a:rPr sz="1900" b="1" i="0">
                <a:solidFill>
                  <a:srgbClr val="16202B"/>
                </a:solidFill>
                <a:latin typeface="Segoe UI"/>
              </a:rPr>
              <a:t>DETECT state</a:t>
            </a:r>
            <a:r>
              <a:rPr sz="1900" b="0" i="0">
                <a:solidFill>
                  <a:srgbClr val="374553"/>
                </a:solidFill>
                <a:latin typeface="Segoe UI"/>
              </a:rPr>
              <a:t>, entered from </a:t>
            </a:r>
            <a:r>
              <a:rPr sz="1750" b="0" i="0">
                <a:solidFill>
                  <a:srgbClr val="0B5C64"/>
                </a:solidFill>
                <a:latin typeface="Consolas"/>
              </a:rPr>
              <a:t>S101</a:t>
            </a:r>
            <a:r>
              <a:rPr sz="1900" b="0" i="0">
                <a:solidFill>
                  <a:srgbClr val="374553"/>
                </a:solidFill>
                <a:latin typeface="Segoe UI"/>
              </a:rPr>
              <a:t> on </a:t>
            </a:r>
            <a:r>
              <a:rPr sz="1750" b="0" i="0">
                <a:solidFill>
                  <a:srgbClr val="0B5C64"/>
                </a:solidFill>
                <a:latin typeface="Consolas"/>
              </a:rPr>
              <a:t>din=1</a:t>
            </a:r>
            <a:r>
              <a:rPr sz="1900" b="0" i="0">
                <a:solidFill>
                  <a:srgbClr val="374553"/>
                </a:solidFill>
                <a:latin typeface="Segoe UI"/>
              </a:rPr>
              <a:t> · output </a:t>
            </a:r>
            <a:r>
              <a:rPr sz="1900" b="1" i="0">
                <a:solidFill>
                  <a:srgbClr val="16202B"/>
                </a:solidFill>
                <a:latin typeface="Segoe UI"/>
              </a:rPr>
              <a:t>1</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assign detected = (state == S1011);</a:t>
            </a:r>
            <a:r>
              <a:rPr sz="1900" b="0" i="0">
                <a:solidFill>
                  <a:srgbClr val="374553"/>
                </a:solidFill>
                <a:latin typeface="Segoe UI"/>
              </a:rPr>
              <a:t> — a function of state alone</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Overlap: </a:t>
            </a:r>
            <a:r>
              <a:rPr sz="1750" b="0" i="0">
                <a:solidFill>
                  <a:srgbClr val="0B5C64"/>
                </a:solidFill>
                <a:latin typeface="Consolas"/>
              </a:rPr>
              <a:t>S1011 --din=1--&gt; S1</a:t>
            </a:r>
            <a:r>
              <a:rPr sz="1900" b="0" i="0">
                <a:solidFill>
                  <a:srgbClr val="374553"/>
                </a:solidFill>
                <a:latin typeface="Segoe UI"/>
              </a:rPr>
              <a:t> — the trailing </a:t>
            </a:r>
            <a:r>
              <a:rPr sz="1750" b="0" i="0">
                <a:solidFill>
                  <a:srgbClr val="0B5C64"/>
                </a:solidFill>
                <a:latin typeface="Consolas"/>
              </a:rPr>
              <a:t>1</a:t>
            </a:r>
            <a:r>
              <a:rPr sz="1900" b="0" i="0">
                <a:solidFill>
                  <a:srgbClr val="374553"/>
                </a:solidFill>
                <a:latin typeface="Segoe UI"/>
              </a:rPr>
              <a:t> seeds the next match</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#1  ·  SEQUENCE DETECTOR</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When Does </a:t>
            </a:r>
            <a:r>
              <a:rPr sz="2450" b="1" i="0">
                <a:solidFill>
                  <a:srgbClr val="0B5C64"/>
                </a:solidFill>
                <a:latin typeface="Consolas"/>
              </a:rPr>
              <a:t>detected</a:t>
            </a:r>
            <a:r>
              <a:rPr sz="2700" b="1" i="0">
                <a:solidFill>
                  <a:srgbClr val="16202B"/>
                </a:solidFill>
                <a:latin typeface="Segoe UI"/>
              </a:rPr>
              <a:t> Fire? — and a Print-Artifact That Fooled Me</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Smoke vector </a:t>
            </a:r>
            <a:r>
              <a:rPr sz="1750" b="0" i="0">
                <a:solidFill>
                  <a:srgbClr val="0B5C64"/>
                </a:solidFill>
                <a:latin typeface="Consolas"/>
              </a:rPr>
              <a:t>1101011</a:t>
            </a:r>
            <a:r>
              <a:rPr sz="1900" b="0" i="0">
                <a:solidFill>
                  <a:srgbClr val="374553"/>
                </a:solidFill>
                <a:latin typeface="Segoe UI"/>
              </a:rPr>
              <a:t>: cycle 7 → </a:t>
            </a:r>
            <a:r>
              <a:rPr sz="1750" b="0" i="0">
                <a:solidFill>
                  <a:srgbClr val="0B5C64"/>
                </a:solidFill>
                <a:latin typeface="Consolas"/>
              </a:rPr>
              <a:t>S101</a:t>
            </a:r>
            <a:r>
              <a:rPr sz="1900" b="0" i="0">
                <a:solidFill>
                  <a:srgbClr val="374553"/>
                </a:solidFill>
                <a:latin typeface="Segoe UI"/>
              </a:rPr>
              <a:t>, </a:t>
            </a:r>
            <a:r>
              <a:rPr sz="1750" b="0" i="0">
                <a:solidFill>
                  <a:srgbClr val="0B5C64"/>
                </a:solidFill>
                <a:latin typeface="Consolas"/>
              </a:rPr>
              <a:t>detected=0</a:t>
            </a:r>
            <a:r>
              <a:rPr sz="1900" b="0" i="0">
                <a:solidFill>
                  <a:srgbClr val="374553"/>
                </a:solidFill>
                <a:latin typeface="Segoe UI"/>
              </a:rPr>
              <a:t>; cycle 8 → </a:t>
            </a:r>
            <a:r>
              <a:rPr sz="1750" b="0" i="0">
                <a:solidFill>
                  <a:srgbClr val="0B5C64"/>
                </a:solidFill>
                <a:latin typeface="Consolas"/>
              </a:rPr>
              <a:t>S1011</a:t>
            </a:r>
            <a:r>
              <a:rPr sz="1900" b="0" i="0">
                <a:solidFill>
                  <a:srgbClr val="374553"/>
                </a:solidFill>
                <a:latin typeface="Segoe UI"/>
              </a:rPr>
              <a:t>, </a:t>
            </a:r>
            <a:r>
              <a:rPr sz="1750" b="1" i="0">
                <a:solidFill>
                  <a:srgbClr val="0B5C64"/>
                </a:solidFill>
                <a:latin typeface="Consolas"/>
              </a:rPr>
              <a:t>detected=1</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One registered cycle after the 4th matching bit — ordinary Moore latency</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Corner case — overlap:</a:t>
            </a:r>
            <a:r>
              <a:rPr sz="1900" b="0" i="0">
                <a:solidFill>
                  <a:srgbClr val="374553"/>
                </a:solidFill>
                <a:latin typeface="Segoe UI"/>
              </a:rPr>
              <a:t> dedicated self-checking test drives </a:t>
            </a:r>
            <a:r>
              <a:rPr sz="1750" b="0" i="0">
                <a:solidFill>
                  <a:srgbClr val="0B5C64"/>
                </a:solidFill>
                <a:latin typeface="Consolas"/>
              </a:rPr>
              <a:t>1011011</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Result: two pulses, cycles 5 and 8, a 3-cycle gap (the minimum for </a:t>
            </a:r>
            <a:r>
              <a:rPr sz="1750" b="0" i="0">
                <a:solidFill>
                  <a:srgbClr val="0B5C64"/>
                </a:solidFill>
                <a:latin typeface="Consolas"/>
              </a:rPr>
              <a:t>1011</a:t>
            </a:r>
            <a:r>
              <a:rPr sz="1900" b="0" i="0">
                <a:solidFill>
                  <a:srgbClr val="374553"/>
                </a:solidFill>
                <a:latin typeface="Segoe UI"/>
              </a:rPr>
              <a: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The smoke vector alone does </a:t>
            </a:r>
            <a:r>
              <a:rPr sz="1900" b="1" i="0">
                <a:solidFill>
                  <a:srgbClr val="16202B"/>
                </a:solidFill>
                <a:latin typeface="Segoe UI"/>
              </a:rPr>
              <a:t>not</a:t>
            </a:r>
            <a:r>
              <a:rPr sz="1900" b="0" i="0">
                <a:solidFill>
                  <a:srgbClr val="374553"/>
                </a:solidFill>
                <a:latin typeface="Segoe UI"/>
              </a:rPr>
              <a:t> test overlap — it contains only one match</a:t>
            </a:r>
          </a:p>
          <a:p>
            <a:pPr marL="274320" indent="-274320">
              <a:lnSpc>
                <a:spcPct val="130000"/>
              </a:lnSpc>
              <a:spcAft>
                <a:spcPts val="1330"/>
              </a:spcAft>
              <a:buClr>
                <a:srgbClr val="0E7C86"/>
              </a:buClr>
              <a:buSzPct val="78000"/>
              <a:buFont typeface="Arial"/>
              <a:buChar char="▪"/>
            </a:pPr>
            <a:r>
              <a:rPr sz="1750" b="1" i="0">
                <a:solidFill>
                  <a:srgbClr val="0B5C64"/>
                </a:solidFill>
                <a:latin typeface="Consolas"/>
              </a:rPr>
              <a:t>ISSUE-D4-01</a:t>
            </a:r>
            <a:r>
              <a:rPr sz="1900" b="1" i="0">
                <a:solidFill>
                  <a:srgbClr val="16202B"/>
                </a:solidFill>
                <a:latin typeface="Segoe UI"/>
              </a:rPr>
              <a:t>:</a:t>
            </a:r>
            <a:r>
              <a:rPr sz="1900" b="0" i="0">
                <a:solidFill>
                  <a:srgbClr val="374553"/>
                </a:solidFill>
                <a:latin typeface="Segoe UI"/>
              </a:rPr>
              <a:t> an early log printed </a:t>
            </a:r>
            <a:r>
              <a:rPr sz="1900" b="0" i="1">
                <a:solidFill>
                  <a:srgbClr val="374553"/>
                </a:solidFill>
                <a:latin typeface="Segoe UI"/>
              </a:rPr>
              <a:t>post-edge</a:t>
            </a:r>
            <a:r>
              <a:rPr sz="1900" b="0" i="0">
                <a:solidFill>
                  <a:srgbClr val="374553"/>
                </a:solidFill>
                <a:latin typeface="Segoe UI"/>
              </a:rPr>
              <a:t> and looked like zero latency</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#2  ·  TRAFFIC LIGHT</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Traffic Light — the FSM Decides </a:t>
            </a:r>
            <a:r>
              <a:rPr sz="2700" b="1" i="1">
                <a:solidFill>
                  <a:srgbClr val="16202B"/>
                </a:solidFill>
                <a:latin typeface="Segoe UI"/>
              </a:rPr>
              <a:t>What</a:t>
            </a:r>
            <a:r>
              <a:rPr sz="2700" b="1" i="0">
                <a:solidFill>
                  <a:srgbClr val="16202B"/>
                </a:solidFill>
                <a:latin typeface="Segoe UI"/>
              </a:rPr>
              <a:t>, the Counter Decides </a:t>
            </a:r>
            <a:r>
              <a:rPr sz="2700" b="1" i="1">
                <a:solidFill>
                  <a:srgbClr val="16202B"/>
                </a:solidFill>
                <a:latin typeface="Segoe UI"/>
              </a:rPr>
              <a:t>How Long</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Four phases, fixed round-robin: MAIN_GREEN → MAIN_YELLOW → SIDE_GREEN → SIDE_YELLOW</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Durations 4, 2, 6, 2 → a </a:t>
            </a:r>
            <a:r>
              <a:rPr sz="1900" b="1" i="0">
                <a:solidFill>
                  <a:srgbClr val="16202B"/>
                </a:solidFill>
                <a:latin typeface="Segoe UI"/>
              </a:rPr>
              <a:t>14-cycle loop</a:t>
            </a:r>
            <a:r>
              <a:rPr sz="1900" b="0" i="0">
                <a:solidFill>
                  <a:srgbClr val="374553"/>
                </a:solidFill>
                <a:latin typeface="Segoe UI"/>
              </a:rPr>
              <a:t>; all parameterised</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No external input</a:t>
            </a:r>
            <a:r>
              <a:rPr sz="1900" b="0" i="0">
                <a:solidFill>
                  <a:srgbClr val="374553"/>
                </a:solidFill>
                <a:latin typeface="Segoe UI"/>
              </a:rPr>
              <a:t> — the only thing that drives a transition is the counter hitting 0</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State register + down-counter in one </a:t>
            </a:r>
            <a:r>
              <a:rPr sz="1750" b="0" i="0">
                <a:solidFill>
                  <a:srgbClr val="0B5C64"/>
                </a:solidFill>
                <a:latin typeface="Consolas"/>
              </a:rPr>
              <a:t>always_ff</a:t>
            </a:r>
            <a:r>
              <a:rPr sz="1900" b="0" i="0">
                <a:solidFill>
                  <a:srgbClr val="374553"/>
                </a:solidFill>
                <a:latin typeface="Segoe UI"/>
              </a:rPr>
              <a:t>; next-state, duration lookup, outputs each in their own </a:t>
            </a:r>
            <a:r>
              <a:rPr sz="1750" b="0" i="0">
                <a:solidFill>
                  <a:srgbClr val="0B5C64"/>
                </a:solidFill>
                <a:latin typeface="Consolas"/>
              </a:rPr>
              <a:t>always_comb</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Six light outputs are pure Moore functions of state; safe </a:t>
            </a:r>
            <a:r>
              <a:rPr sz="1900" b="1" i="0">
                <a:solidFill>
                  <a:srgbClr val="16202B"/>
                </a:solidFill>
                <a:latin typeface="Segoe UI"/>
              </a:rPr>
              <a:t>all-red</a:t>
            </a:r>
            <a:r>
              <a:rPr sz="1900" b="0" i="0">
                <a:solidFill>
                  <a:srgbClr val="374553"/>
                </a:solidFill>
                <a:latin typeface="Segoe UI"/>
              </a:rPr>
              <a:t> default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Documented safety rule: the other road stays RED for the whole yellow phase</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#2  ·  TRAFFIC LIGHT</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50" b="1" i="0">
                <a:solidFill>
                  <a:srgbClr val="0B5C64"/>
                </a:solidFill>
                <a:latin typeface="Consolas"/>
              </a:rPr>
              <a:t>ISSUE-D5-02</a:t>
            </a:r>
            <a:r>
              <a:rPr sz="3000" b="1" i="0">
                <a:solidFill>
                  <a:srgbClr val="16202B"/>
                </a:solidFill>
                <a:latin typeface="Segoe UI"/>
              </a:rPr>
              <a:t> — A Bug That Hid Behind Its Own Test</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Symptom:</a:t>
            </a:r>
            <a:r>
              <a:rPr sz="1900" b="0" i="0">
                <a:solidFill>
                  <a:srgbClr val="374553"/>
                </a:solidFill>
                <a:latin typeface="Segoe UI"/>
              </a:rPr>
              <a:t> the first MAIN_GREEN lasted </a:t>
            </a:r>
            <a:r>
              <a:rPr sz="1900" b="1" i="0">
                <a:solidFill>
                  <a:srgbClr val="16202B"/>
                </a:solidFill>
                <a:latin typeface="Segoe UI"/>
              </a:rPr>
              <a:t>5</a:t>
            </a:r>
            <a:r>
              <a:rPr sz="1900" b="0" i="0">
                <a:solidFill>
                  <a:srgbClr val="374553"/>
                </a:solidFill>
                <a:latin typeface="Segoe UI"/>
              </a:rPr>
              <a:t> cycles; every later one, 4</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Cause:</a:t>
            </a:r>
            <a:r>
              <a:rPr sz="1900" b="0" i="0">
                <a:solidFill>
                  <a:srgbClr val="374553"/>
                </a:solidFill>
                <a:latin typeface="Segoe UI"/>
              </a:rPr>
              <a:t> reset loaded </a:t>
            </a:r>
            <a:r>
              <a:rPr sz="1750" b="0" i="0">
                <a:solidFill>
                  <a:srgbClr val="0B5C64"/>
                </a:solidFill>
                <a:latin typeface="Consolas"/>
              </a:rPr>
              <a:t>MAIN_GREEN_TIME</a:t>
            </a:r>
            <a:r>
              <a:rPr sz="1900" b="0" i="0">
                <a:solidFill>
                  <a:srgbClr val="374553"/>
                </a:solidFill>
                <a:latin typeface="Segoe UI"/>
              </a:rPr>
              <a:t> (4) instead of </a:t>
            </a:r>
            <a:r>
              <a:rPr sz="1750" b="0" i="0">
                <a:solidFill>
                  <a:srgbClr val="0B5C64"/>
                </a:solidFill>
                <a:latin typeface="Consolas"/>
              </a:rPr>
              <a:t>MAIN_GREEN_TIME-1</a:t>
            </a:r>
            <a:r>
              <a:rPr sz="1900" b="0" i="0">
                <a:solidFill>
                  <a:srgbClr val="374553"/>
                </a:solidFill>
                <a:latin typeface="Segoe UI"/>
              </a:rPr>
              <a:t> (3)</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A D-cycle phase needs the counter to step </a:t>
            </a:r>
            <a:r>
              <a:rPr sz="1750" b="0" i="0">
                <a:solidFill>
                  <a:srgbClr val="0B5C64"/>
                </a:solidFill>
                <a:latin typeface="Consolas"/>
              </a:rPr>
              <a:t>D-1 … 0</a:t>
            </a:r>
            <a:r>
              <a:rPr sz="1900" b="0" i="0">
                <a:solidFill>
                  <a:srgbClr val="374553"/>
                </a:solidFill>
                <a:latin typeface="Segoe UI"/>
              </a:rPr>
              <a:t> → the reload value is </a:t>
            </a:r>
            <a:r>
              <a:rPr sz="1900" b="0" i="1">
                <a:solidFill>
                  <a:srgbClr val="374553"/>
                </a:solidFill>
                <a:latin typeface="Segoe UI"/>
              </a:rPr>
              <a:t>always</a:t>
            </a:r>
            <a:r>
              <a:rPr sz="1900" b="0" i="0">
                <a:solidFill>
                  <a:srgbClr val="374553"/>
                </a:solidFill>
                <a:latin typeface="Segoe UI"/>
              </a:rPr>
              <a:t> </a:t>
            </a:r>
            <a:r>
              <a:rPr sz="1750" b="0" i="0">
                <a:solidFill>
                  <a:srgbClr val="0B5C64"/>
                </a:solidFill>
                <a:latin typeface="Consolas"/>
              </a:rPr>
              <a:t>D-1</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Why it was invisible (</a:t>
            </a:r>
            <a:r>
              <a:rPr sz="1750" b="1" i="0">
                <a:solidFill>
                  <a:srgbClr val="0B5C64"/>
                </a:solidFill>
                <a:latin typeface="Consolas"/>
              </a:rPr>
              <a:t>ISSUE-D5-03</a:t>
            </a:r>
            <a:r>
              <a:rPr sz="1900" b="1" i="0">
                <a:solidFill>
                  <a:srgbClr val="16202B"/>
                </a:solidFill>
                <a:latin typeface="Segoe UI"/>
              </a:rPr>
              <a:t>):</a:t>
            </a:r>
            <a:r>
              <a:rPr sz="1900" b="0" i="0">
                <a:solidFill>
                  <a:srgbClr val="374553"/>
                </a:solidFill>
                <a:latin typeface="Segoe UI"/>
              </a:rPr>
              <a:t> the testbench dropped the reset cycle from its printout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So 5 cycles printed as 4 rows — </a:t>
            </a:r>
            <a:r>
              <a:rPr sz="1900" b="0" i="1">
                <a:solidFill>
                  <a:srgbClr val="374553"/>
                </a:solidFill>
                <a:latin typeface="Segoe UI"/>
              </a:rPr>
              <a:t>matching</a:t>
            </a:r>
            <a:r>
              <a:rPr sz="1900" b="0" i="0">
                <a:solidFill>
                  <a:srgbClr val="374553"/>
                </a:solidFill>
                <a:latin typeface="Segoe UI"/>
              </a:rPr>
              <a:t> the correct later phase</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Fix:</a:t>
            </a:r>
            <a:r>
              <a:rPr sz="1900" b="0" i="0">
                <a:solidFill>
                  <a:srgbClr val="374553"/>
                </a:solidFill>
                <a:latin typeface="Segoe UI"/>
              </a:rPr>
              <a:t> load </a:t>
            </a:r>
            <a:r>
              <a:rPr sz="1750" b="0" i="0">
                <a:solidFill>
                  <a:srgbClr val="0B5C64"/>
                </a:solidFill>
                <a:latin typeface="Consolas"/>
              </a:rPr>
              <a:t>MAIN_GREEN_TIME-1</a:t>
            </a:r>
            <a:r>
              <a:rPr sz="1900" b="0" i="0">
                <a:solidFill>
                  <a:srgbClr val="374553"/>
                </a:solidFill>
                <a:latin typeface="Segoe UI"/>
              </a:rPr>
              <a:t> at reset · </a:t>
            </a:r>
            <a:r>
              <a:rPr sz="1900" b="1" i="0">
                <a:solidFill>
                  <a:srgbClr val="16202B"/>
                </a:solidFill>
                <a:latin typeface="Segoe UI"/>
              </a:rPr>
              <a:t>and</a:t>
            </a:r>
            <a:r>
              <a:rPr sz="1900" b="0" i="0">
                <a:solidFill>
                  <a:srgbClr val="374553"/>
                </a:solidFill>
                <a:latin typeface="Segoe UI"/>
              </a:rPr>
              <a:t> log per-cycle with </a:t>
            </a:r>
            <a:r>
              <a:rPr sz="1750" b="0" i="0">
                <a:solidFill>
                  <a:srgbClr val="0B5C64"/>
                </a:solidFill>
                <a:latin typeface="Consolas"/>
              </a:rPr>
              <a:t>count</a:t>
            </a:r>
            <a:r>
              <a:rPr sz="1900" b="0" i="0">
                <a:solidFill>
                  <a:srgbClr val="374553"/>
                </a:solidFill>
                <a:latin typeface="Segoe UI"/>
              </a:rPr>
              <a:t> exposed</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#3  ·  SYNCHRONOUS FIFO</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Synchronous FIFO — 8×8, Count-Based</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Memory array + </a:t>
            </a:r>
            <a:r>
              <a:rPr sz="1750" b="0" i="0">
                <a:solidFill>
                  <a:srgbClr val="0B5C64"/>
                </a:solidFill>
                <a:latin typeface="Consolas"/>
              </a:rPr>
              <a:t>wr_ptr</a:t>
            </a:r>
            <a:r>
              <a:rPr sz="1900" b="0" i="0">
                <a:solidFill>
                  <a:srgbClr val="374553"/>
                </a:solidFill>
                <a:latin typeface="Segoe UI"/>
              </a:rPr>
              <a:t> + </a:t>
            </a:r>
            <a:r>
              <a:rPr sz="1750" b="0" i="0">
                <a:solidFill>
                  <a:srgbClr val="0B5C64"/>
                </a:solidFill>
                <a:latin typeface="Consolas"/>
              </a:rPr>
              <a:t>rd_ptr</a:t>
            </a:r>
            <a:r>
              <a:rPr sz="1900" b="0" i="0">
                <a:solidFill>
                  <a:srgbClr val="374553"/>
                </a:solidFill>
                <a:latin typeface="Segoe UI"/>
              </a:rPr>
              <a:t> + </a:t>
            </a:r>
            <a:r>
              <a:rPr sz="1750" b="0" i="0">
                <a:solidFill>
                  <a:srgbClr val="0B5C64"/>
                </a:solidFill>
                <a:latin typeface="Consolas"/>
              </a:rPr>
              <a:t>count</a:t>
            </a:r>
            <a:r>
              <a:rPr sz="1900" b="0" i="0">
                <a:solidFill>
                  <a:srgbClr val="374553"/>
                </a:solidFill>
                <a:latin typeface="Segoe UI"/>
              </a:rPr>
              <a:t>, all in one </a:t>
            </a:r>
            <a:r>
              <a:rPr sz="1750" b="0" i="0">
                <a:solidFill>
                  <a:srgbClr val="0B5C64"/>
                </a:solidFill>
                <a:latin typeface="Consolas"/>
              </a:rPr>
              <a:t>always_ff</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full = (count == DEPTH)</a:t>
            </a:r>
            <a:r>
              <a:rPr sz="1900" b="0" i="0">
                <a:solidFill>
                  <a:srgbClr val="374553"/>
                </a:solidFill>
                <a:latin typeface="Segoe UI"/>
              </a:rPr>
              <a:t> · </a:t>
            </a:r>
            <a:r>
              <a:rPr sz="1750" b="0" i="0">
                <a:solidFill>
                  <a:srgbClr val="0B5C64"/>
                </a:solidFill>
                <a:latin typeface="Consolas"/>
              </a:rPr>
              <a:t>empty = (count == 0)</a:t>
            </a:r>
            <a:r>
              <a:rPr sz="1900" b="0" i="0">
                <a:solidFill>
                  <a:srgbClr val="374553"/>
                </a:solidFill>
                <a:latin typeface="Segoe UI"/>
              </a:rPr>
              <a:t> — combinational</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Why count, not pointer compare:</a:t>
            </a:r>
            <a:r>
              <a:rPr sz="1900" b="0" i="0">
                <a:solidFill>
                  <a:srgbClr val="374553"/>
                </a:solidFill>
                <a:latin typeface="Segoe UI"/>
              </a:rPr>
              <a:t> </a:t>
            </a:r>
            <a:r>
              <a:rPr sz="1750" b="0" i="0">
                <a:solidFill>
                  <a:srgbClr val="0B5C64"/>
                </a:solidFill>
                <a:latin typeface="Consolas"/>
              </a:rPr>
              <a:t>wr_ptr == rd_ptr</a:t>
            </a:r>
            <a:r>
              <a:rPr sz="1900" b="0" i="0">
                <a:solidFill>
                  <a:srgbClr val="374553"/>
                </a:solidFill>
                <a:latin typeface="Segoe UI"/>
              </a:rPr>
              <a:t> is true when full </a:t>
            </a:r>
            <a:r>
              <a:rPr sz="1900" b="0" i="1">
                <a:solidFill>
                  <a:srgbClr val="374553"/>
                </a:solidFill>
                <a:latin typeface="Segoe UI"/>
              </a:rPr>
              <a:t>and</a:t>
            </a:r>
            <a:r>
              <a:rPr sz="1900" b="0" i="0">
                <a:solidFill>
                  <a:srgbClr val="374553"/>
                </a:solidFill>
                <a:latin typeface="Segoe UI"/>
              </a:rPr>
              <a:t> when empty</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count</a:t>
            </a:r>
            <a:r>
              <a:rPr sz="1900" b="0" i="0">
                <a:solidFill>
                  <a:srgbClr val="374553"/>
                </a:solidFill>
                <a:latin typeface="Segoe UI"/>
              </a:rPr>
              <a:t> width is </a:t>
            </a:r>
            <a:r>
              <a:rPr sz="1750" b="0" i="0">
                <a:solidFill>
                  <a:srgbClr val="0B5C64"/>
                </a:solidFill>
                <a:latin typeface="Consolas"/>
              </a:rPr>
              <a:t>$clog2(DEPTH+1)</a:t>
            </a:r>
            <a:r>
              <a:rPr sz="1900" b="0" i="0">
                <a:solidFill>
                  <a:srgbClr val="374553"/>
                </a:solidFill>
                <a:latin typeface="Segoe UI"/>
              </a:rPr>
              <a:t> = </a:t>
            </a:r>
            <a:r>
              <a:rPr sz="1900" b="1" i="0">
                <a:solidFill>
                  <a:srgbClr val="16202B"/>
                </a:solidFill>
                <a:latin typeface="Segoe UI"/>
              </a:rPr>
              <a:t>4 bits</a:t>
            </a:r>
            <a:r>
              <a:rPr sz="1900" b="0" i="0">
                <a:solidFill>
                  <a:srgbClr val="374553"/>
                </a:solidFill>
                <a:latin typeface="Segoe UI"/>
              </a:rPr>
              <a:t> (0…8) — one wider than the pointers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Wraparound: </a:t>
            </a:r>
            <a:r>
              <a:rPr sz="1750" b="0" i="0">
                <a:solidFill>
                  <a:srgbClr val="0B5C64"/>
                </a:solidFill>
                <a:latin typeface="Consolas"/>
              </a:rPr>
              <a:t>wr_ptr &lt;= (wr_ptr == DEPTH-1) ? 0 : wr_ptr + 1</a:t>
            </a:r>
          </a:p>
          <a:p>
            <a:pPr marL="274320" indent="-274320">
              <a:lnSpc>
                <a:spcPct val="130000"/>
              </a:lnSpc>
              <a:spcAft>
                <a:spcPts val="1330"/>
              </a:spcAft>
              <a:buClr>
                <a:srgbClr val="0E7C86"/>
              </a:buClr>
              <a:buSzPct val="78000"/>
              <a:buFont typeface="Arial"/>
              <a:buChar char="▪"/>
            </a:pPr>
            <a:r>
              <a:rPr sz="1750" b="0" i="0">
                <a:solidFill>
                  <a:srgbClr val="0B5C64"/>
                </a:solidFill>
                <a:latin typeface="Consolas"/>
              </a:rPr>
              <a:t>dout</a:t>
            </a:r>
            <a:r>
              <a:rPr sz="1900" b="0" i="0">
                <a:solidFill>
                  <a:srgbClr val="374553"/>
                </a:solidFill>
                <a:latin typeface="Segoe UI"/>
              </a:rPr>
              <a:t> is a combinational </a:t>
            </a:r>
            <a:r>
              <a:rPr sz="1900" b="1" i="0">
                <a:solidFill>
                  <a:srgbClr val="16202B"/>
                </a:solidFill>
                <a:latin typeface="Segoe UI"/>
              </a:rPr>
              <a:t>peek</a:t>
            </a:r>
            <a:r>
              <a:rPr sz="1900" b="0" i="0">
                <a:solidFill>
                  <a:srgbClr val="374553"/>
                </a:solidFill>
                <a:latin typeface="Segoe UI"/>
              </a:rPr>
              <a:t> at </a:t>
            </a:r>
            <a:r>
              <a:rPr sz="1750" b="0" i="0">
                <a:solidFill>
                  <a:srgbClr val="0B5C64"/>
                </a:solidFill>
                <a:latin typeface="Consolas"/>
              </a:rPr>
              <a:t>mem[rd_ptr]</a:t>
            </a:r>
            <a:r>
              <a:rPr sz="1900" b="0" i="0">
                <a:solidFill>
                  <a:srgbClr val="374553"/>
                </a:solidFill>
                <a:latin typeface="Segoe UI"/>
              </a:rPr>
              <a:t> — gate on </a:t>
            </a:r>
            <a:r>
              <a:rPr sz="1750" b="0" i="0">
                <a:solidFill>
                  <a:srgbClr val="0B5C64"/>
                </a:solidFill>
                <a:latin typeface="Consolas"/>
              </a:rPr>
              <a:t>empty</a:t>
            </a:r>
            <a:r>
              <a:rPr sz="1900" b="0" i="0">
                <a:solidFill>
                  <a:srgbClr val="374553"/>
                </a:solidFill>
                <a:latin typeface="Segoe UI"/>
              </a:rPr>
              <a:t> before trusting it</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RTL #3  ·  SYNCHRONOUS FIFO</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FIFO — Handling Every </a:t>
            </a:r>
            <a:r>
              <a:rPr sz="2750" b="1" i="0">
                <a:solidFill>
                  <a:srgbClr val="0B5C64"/>
                </a:solidFill>
                <a:latin typeface="Consolas"/>
              </a:rPr>
              <a:t>(wr_en, rd_en)</a:t>
            </a:r>
            <a:r>
              <a:rPr sz="3000" b="1" i="0">
                <a:solidFill>
                  <a:srgbClr val="16202B"/>
                </a:solidFill>
                <a:latin typeface="Segoe UI"/>
              </a:rPr>
              <a:t> Combination</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Both enables qualified by </a:t>
            </a:r>
            <a:r>
              <a:rPr sz="1750" b="0" i="0">
                <a:solidFill>
                  <a:srgbClr val="0B5C64"/>
                </a:solidFill>
                <a:latin typeface="Consolas"/>
              </a:rPr>
              <a:t>!full</a:t>
            </a:r>
            <a:r>
              <a:rPr sz="1900" b="0" i="0">
                <a:solidFill>
                  <a:srgbClr val="374553"/>
                </a:solidFill>
                <a:latin typeface="Segoe UI"/>
              </a:rPr>
              <a:t> / </a:t>
            </a:r>
            <a:r>
              <a:rPr sz="1750" b="0" i="0">
                <a:solidFill>
                  <a:srgbClr val="0B5C64"/>
                </a:solidFill>
                <a:latin typeface="Consolas"/>
              </a:rPr>
              <a:t>!empty</a:t>
            </a:r>
            <a:r>
              <a:rPr sz="1900" b="0" i="0">
                <a:solidFill>
                  <a:srgbClr val="374553"/>
                </a:solidFill>
                <a:latin typeface="Segoe UI"/>
              </a:rPr>
              <a:t> </a:t>
            </a:r>
            <a:r>
              <a:rPr sz="1900" b="1" i="0">
                <a:solidFill>
                  <a:srgbClr val="16202B"/>
                </a:solidFill>
                <a:latin typeface="Segoe UI"/>
              </a:rPr>
              <a:t>before</a:t>
            </a:r>
            <a:r>
              <a:rPr sz="1900" b="0" i="0">
                <a:solidFill>
                  <a:srgbClr val="374553"/>
                </a:solidFill>
                <a:latin typeface="Segoe UI"/>
              </a:rPr>
              <a:t> the case statement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 all four cases </a:t>
            </a:r>
            <a:r>
              <a:rPr sz="1750" b="0" i="0">
                <a:solidFill>
                  <a:srgbClr val="0B5C64"/>
                </a:solidFill>
                <a:latin typeface="Consolas"/>
              </a:rPr>
              <a:t>00/01/10/11</a:t>
            </a:r>
            <a:r>
              <a:rPr sz="1900" b="0" i="0">
                <a:solidFill>
                  <a:srgbClr val="374553"/>
                </a:solidFill>
                <a:latin typeface="Segoe UI"/>
              </a:rPr>
              <a:t> then encode the right behaviour automatically</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Write while full → </a:t>
            </a:r>
            <a:r>
              <a:rPr sz="1900" b="1" i="0">
                <a:solidFill>
                  <a:srgbClr val="16202B"/>
                </a:solidFill>
                <a:latin typeface="Segoe UI"/>
              </a:rPr>
              <a:t>blocked</a:t>
            </a:r>
            <a:r>
              <a:rPr sz="1900" b="0" i="0">
                <a:solidFill>
                  <a:srgbClr val="374553"/>
                </a:solidFill>
                <a:latin typeface="Segoe UI"/>
              </a:rPr>
              <a:t> (poison </a:t>
            </a:r>
            <a:r>
              <a:rPr sz="1750" b="0" i="0">
                <a:solidFill>
                  <a:srgbClr val="0B5C64"/>
                </a:solidFill>
                <a:latin typeface="Consolas"/>
              </a:rPr>
              <a:t>0xFF</a:t>
            </a:r>
            <a:r>
              <a:rPr sz="1900" b="0" i="0">
                <a:solidFill>
                  <a:srgbClr val="374553"/>
                </a:solidFill>
                <a:latin typeface="Segoe UI"/>
              </a:rPr>
              <a:t> never reappears in any read)</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Read while empty → </a:t>
            </a:r>
            <a:r>
              <a:rPr sz="1900" b="1" i="0">
                <a:solidFill>
                  <a:srgbClr val="16202B"/>
                </a:solidFill>
                <a:latin typeface="Segoe UI"/>
              </a:rPr>
              <a:t>blocked</a:t>
            </a:r>
            <a:r>
              <a:rPr sz="1900" b="0" i="0">
                <a:solidFill>
                  <a:srgbClr val="374553"/>
                </a:solidFill>
                <a:latin typeface="Segoe UI"/>
              </a:rPr>
              <a:t> (no count underflow)</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Simultaneous R+W, partially filled → both proceed, </a:t>
            </a:r>
            <a:r>
              <a:rPr sz="1900" b="1" i="0">
                <a:solidFill>
                  <a:srgbClr val="16202B"/>
                </a:solidFill>
                <a:latin typeface="Segoe UI"/>
              </a:rPr>
              <a:t>count unchanged</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Simultaneous while </a:t>
            </a:r>
            <a:r>
              <a:rPr sz="1900" b="1" i="0">
                <a:solidFill>
                  <a:srgbClr val="16202B"/>
                </a:solidFill>
                <a:latin typeface="Segoe UI"/>
              </a:rPr>
              <a:t>full</a:t>
            </a:r>
            <a:r>
              <a:rPr sz="1900" b="0" i="0">
                <a:solidFill>
                  <a:srgbClr val="374553"/>
                </a:solidFill>
                <a:latin typeface="Segoe UI"/>
              </a:rPr>
              <a:t> → read only · while </a:t>
            </a:r>
            <a:r>
              <a:rPr sz="1900" b="1" i="0">
                <a:solidFill>
                  <a:srgbClr val="16202B"/>
                </a:solidFill>
                <a:latin typeface="Segoe UI"/>
              </a:rPr>
              <a:t>empty</a:t>
            </a:r>
            <a:r>
              <a:rPr sz="1900" b="0" i="0">
                <a:solidFill>
                  <a:srgbClr val="374553"/>
                </a:solidFill>
                <a:latin typeface="Segoe UI"/>
              </a:rPr>
              <a:t> → write only</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VERIFICATION  ·  EVIDENCE</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Six Simulations — What Was Actually Run</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Detector:</a:t>
            </a:r>
            <a:r>
              <a:rPr sz="1900" b="0" i="0">
                <a:solidFill>
                  <a:srgbClr val="374553"/>
                </a:solidFill>
                <a:latin typeface="Segoe UI"/>
              </a:rPr>
              <a:t> smoke (</a:t>
            </a:r>
            <a:r>
              <a:rPr sz="1750" b="0" i="0">
                <a:solidFill>
                  <a:srgbClr val="0B5C64"/>
                </a:solidFill>
                <a:latin typeface="Consolas"/>
              </a:rPr>
              <a:t>1101011</a:t>
            </a:r>
            <a:r>
              <a:rPr sz="1900" b="0" i="0">
                <a:solidFill>
                  <a:srgbClr val="374553"/>
                </a:solidFill>
                <a:latin typeface="Segoe UI"/>
              </a:rPr>
              <a:t>) · self-checking </a:t>
            </a:r>
            <a:r>
              <a:rPr sz="1900" b="1" i="0">
                <a:solidFill>
                  <a:srgbClr val="16202B"/>
                </a:solidFill>
                <a:latin typeface="Segoe UI"/>
              </a:rPr>
              <a:t>overlap</a:t>
            </a:r>
            <a:r>
              <a:rPr sz="1900" b="0" i="0">
                <a:solidFill>
                  <a:srgbClr val="374553"/>
                </a:solidFill>
                <a:latin typeface="Segoe UI"/>
              </a:rPr>
              <a:t> regression (</a:t>
            </a:r>
            <a:r>
              <a:rPr sz="1750" b="0" i="0">
                <a:solidFill>
                  <a:srgbClr val="0B5C64"/>
                </a:solidFill>
                <a:latin typeface="Consolas"/>
              </a:rPr>
              <a:t>1011011</a:t>
            </a:r>
            <a:r>
              <a:rPr sz="1900" b="0" i="0">
                <a:solidFill>
                  <a:srgbClr val="374553"/>
                </a:solidFill>
                <a:latin typeface="Segoe UI"/>
              </a:rPr>
              <a:t>) — 2 pulses ✓</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Traffic Light:</a:t>
            </a:r>
            <a:r>
              <a:rPr sz="1900" b="0" i="0">
                <a:solidFill>
                  <a:srgbClr val="374553"/>
                </a:solidFill>
                <a:latin typeface="Segoe UI"/>
              </a:rPr>
              <a:t> smoke (20 cycles, full loop + wraparound) · </a:t>
            </a:r>
            <a:r>
              <a:rPr sz="1900" b="1" i="0">
                <a:solidFill>
                  <a:srgbClr val="16202B"/>
                </a:solidFill>
                <a:latin typeface="Segoe UI"/>
              </a:rPr>
              <a:t>min-duration</a:t>
            </a:r>
            <a:r>
              <a:rPr sz="1900" b="0" i="0">
                <a:solidFill>
                  <a:srgbClr val="374553"/>
                </a:solidFill>
                <a:latin typeface="Segoe UI"/>
              </a:rPr>
              <a:t> regression ✓</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FIFO:</a:t>
            </a:r>
            <a:r>
              <a:rPr sz="1900" b="0" i="0">
                <a:solidFill>
                  <a:srgbClr val="374553"/>
                </a:solidFill>
                <a:latin typeface="Segoe UI"/>
              </a:rPr>
              <a:t> smoke (fill / block / drain / block </a:t>
            </a:r>
            <a:r>
              <a:rPr sz="1900" b="1" i="0">
                <a:solidFill>
                  <a:srgbClr val="16202B"/>
                </a:solidFill>
                <a:latin typeface="Segoe UI"/>
              </a:rPr>
              <a:t>+ simultaneous R/W</a:t>
            </a:r>
            <a:r>
              <a:rPr sz="1900" b="0" i="0">
                <a:solidFill>
                  <a:srgbClr val="374553"/>
                </a:solidFill>
                <a:latin typeface="Segoe UI"/>
              </a:rPr>
              <a:t>) · </a:t>
            </a:r>
            <a:r>
              <a:rPr sz="1900" b="1" i="0">
                <a:solidFill>
                  <a:srgbClr val="16202B"/>
                </a:solidFill>
                <a:latin typeface="Segoe UI"/>
              </a:rPr>
              <a:t>multi-wrap</a:t>
            </a:r>
            <a:r>
              <a:rPr sz="1900" b="0" i="0">
                <a:solidFill>
                  <a:srgbClr val="374553"/>
                </a:solidFill>
                <a:latin typeface="Segoe UI"/>
              </a:rPr>
              <a:t> regression ✓</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Multi-wrap: 3 fill-drain cycles, 24 writes / 24 reads, checked against a software reference queue — </a:t>
            </a:r>
            <a:r>
              <a:rPr sz="1900" b="1" i="0">
                <a:solidFill>
                  <a:srgbClr val="16202B"/>
                </a:solidFill>
                <a:latin typeface="Segoe UI"/>
              </a:rPr>
              <a:t>0 mismatches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All three designs compile clean under </a:t>
            </a:r>
            <a:r>
              <a:rPr sz="1750" b="0" i="0">
                <a:solidFill>
                  <a:srgbClr val="0B5C64"/>
                </a:solidFill>
                <a:latin typeface="Consolas"/>
              </a:rPr>
              <a:t>iverilog -g2012 -Wall</a:t>
            </a:r>
            <a:r>
              <a:rPr sz="1900" b="0" i="0">
                <a:solidFill>
                  <a:srgbClr val="374553"/>
                </a:solidFill>
                <a:latin typeface="Segoe UI"/>
              </a:rPr>
              <a:t> — zero warnings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Every run archived: verbatim log + </a:t>
            </a:r>
            <a:r>
              <a:rPr sz="1750" b="0" i="0">
                <a:solidFill>
                  <a:srgbClr val="0B5C64"/>
                </a:solidFill>
                <a:latin typeface="Consolas"/>
              </a:rPr>
              <a:t>.vcd</a:t>
            </a:r>
            <a:r>
              <a:rPr sz="1900" b="0" i="0">
                <a:solidFill>
                  <a:srgbClr val="374553"/>
                </a:solidFill>
                <a:latin typeface="Segoe UI"/>
              </a:rPr>
              <a:t> + waveform PDF</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SPECIFICATION</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The Spec as a Contract — Walking One Design's Sections</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Overview → Key Features → Interface Table → Microarchitecture</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FSM Specification → Timing → Corner Cases → RTL Code</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Test of a good spec: could a DV engineer write correct tests </a:t>
            </a:r>
            <a:r>
              <a:rPr sz="1900" b="1" i="0">
                <a:solidFill>
                  <a:srgbClr val="16202B"/>
                </a:solidFill>
                <a:latin typeface="Segoe UI"/>
              </a:rPr>
              <a:t>without opening the RTL?</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Interface rows state </a:t>
            </a:r>
            <a:r>
              <a:rPr sz="1900" b="0" i="1">
                <a:solidFill>
                  <a:srgbClr val="374553"/>
                </a:solidFill>
                <a:latin typeface="Segoe UI"/>
              </a:rPr>
              <a:t>when</a:t>
            </a:r>
            <a:r>
              <a:rPr sz="1900" b="0" i="0">
                <a:solidFill>
                  <a:srgbClr val="374553"/>
                </a:solidFill>
                <a:latin typeface="Segoe UI"/>
              </a:rPr>
              <a:t> a signal asserts and </a:t>
            </a:r>
            <a:r>
              <a:rPr sz="1900" b="0" i="1">
                <a:solidFill>
                  <a:srgbClr val="374553"/>
                </a:solidFill>
                <a:latin typeface="Segoe UI"/>
              </a:rPr>
              <a:t>what it causes</a:t>
            </a:r>
            <a:r>
              <a:rPr sz="1900" b="0" i="0">
                <a:solidFill>
                  <a:srgbClr val="374553"/>
                </a:solidFill>
                <a:latin typeface="Segoe UI"/>
              </a:rPr>
              <a:t> — not just its name</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Every non-obvious decision is written down (reset load value, yellow-phase rule, stale </a:t>
            </a:r>
            <a:r>
              <a:rPr sz="1750" b="0" i="0">
                <a:solidFill>
                  <a:srgbClr val="0B5C64"/>
                </a:solidFill>
                <a:latin typeface="Consolas"/>
              </a:rPr>
              <a:t>dout</a:t>
            </a:r>
            <a:r>
              <a:rPr sz="1900" b="0" i="0">
                <a:solidFill>
                  <a:srgbClr val="374553"/>
                </a:solidFill>
                <a:latin typeface="Segoe UI"/>
              </a:rPr>
              <a: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Widths, names, and reset values must match the RTL </a:t>
            </a:r>
            <a:r>
              <a:rPr sz="1900" b="1" i="0">
                <a:solidFill>
                  <a:srgbClr val="16202B"/>
                </a:solidFill>
                <a:latin typeface="Segoe UI"/>
              </a:rPr>
              <a:t>exactly</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DV THINKING</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Feature → Req-ID → Checker → Stimulus → Coverage</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Feature</a:t>
            </a:r>
            <a:r>
              <a:rPr sz="1900" b="0" i="0">
                <a:solidFill>
                  <a:srgbClr val="374553"/>
                </a:solidFill>
                <a:latin typeface="Segoe UI"/>
              </a:rPr>
              <a:t> — one named, independently testable behaviour (</a:t>
            </a:r>
            <a:r>
              <a:rPr sz="1750" b="0" i="0">
                <a:solidFill>
                  <a:srgbClr val="0B5C64"/>
                </a:solidFill>
                <a:latin typeface="Consolas"/>
              </a:rPr>
              <a:t>write_blocked_when_full</a:t>
            </a:r>
            <a:r>
              <a:rPr sz="1900" b="0" i="0">
                <a:solidFill>
                  <a:srgbClr val="374553"/>
                </a:solidFill>
                <a:latin typeface="Segoe UI"/>
              </a:rPr>
              <a:t>)</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Req-ID</a:t>
            </a:r>
            <a:r>
              <a:rPr sz="1900" b="0" i="0">
                <a:solidFill>
                  <a:srgbClr val="374553"/>
                </a:solidFill>
                <a:latin typeface="Segoe UI"/>
              </a:rPr>
              <a:t> — a stable handle: </a:t>
            </a:r>
            <a:r>
              <a:rPr sz="1750" b="0" i="0">
                <a:solidFill>
                  <a:srgbClr val="0B5C64"/>
                </a:solidFill>
                <a:latin typeface="Consolas"/>
              </a:rPr>
              <a:t>RST</a:t>
            </a:r>
            <a:r>
              <a:rPr sz="1900" b="0" i="0">
                <a:solidFill>
                  <a:srgbClr val="374553"/>
                </a:solidFill>
                <a:latin typeface="Segoe UI"/>
              </a:rPr>
              <a:t> / </a:t>
            </a:r>
            <a:r>
              <a:rPr sz="1750" b="0" i="0">
                <a:solidFill>
                  <a:srgbClr val="0B5C64"/>
                </a:solidFill>
                <a:latin typeface="Consolas"/>
              </a:rPr>
              <a:t>FUNC</a:t>
            </a:r>
            <a:r>
              <a:rPr sz="1900" b="0" i="0">
                <a:solidFill>
                  <a:srgbClr val="374553"/>
                </a:solidFill>
                <a:latin typeface="Segoe UI"/>
              </a:rPr>
              <a:t> / </a:t>
            </a:r>
            <a:r>
              <a:rPr sz="1750" b="0" i="0">
                <a:solidFill>
                  <a:srgbClr val="0B5C64"/>
                </a:solidFill>
                <a:latin typeface="Consolas"/>
              </a:rPr>
              <a:t>CORNER</a:t>
            </a:r>
            <a:r>
              <a:rPr sz="1900" b="0" i="0">
                <a:solidFill>
                  <a:srgbClr val="374553"/>
                </a:solidFill>
                <a:latin typeface="Segoe UI"/>
              </a:rPr>
              <a:t> / </a:t>
            </a:r>
            <a:r>
              <a:rPr sz="1750" b="0" i="0">
                <a:solidFill>
                  <a:srgbClr val="0B5C64"/>
                </a:solidFill>
                <a:latin typeface="Consolas"/>
              </a:rPr>
              <a:t>NEG</a:t>
            </a:r>
            <a:r>
              <a:rPr sz="1900" b="0" i="0">
                <a:solidFill>
                  <a:srgbClr val="374553"/>
                </a:solidFill>
                <a:latin typeface="Segoe UI"/>
              </a:rPr>
              <a:t> / </a:t>
            </a:r>
            <a:r>
              <a:rPr sz="1750" b="0" i="0">
                <a:solidFill>
                  <a:srgbClr val="0B5C64"/>
                </a:solidFill>
                <a:latin typeface="Consolas"/>
              </a:rPr>
              <a:t>STRESS</a:t>
            </a:r>
            <a:r>
              <a:rPr sz="1900" b="0" i="0">
                <a:solidFill>
                  <a:srgbClr val="374553"/>
                </a:solidFill>
                <a:latin typeface="Segoe UI"/>
              </a:rPr>
              <a:t>, never reused</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Checker</a:t>
            </a:r>
            <a:r>
              <a:rPr sz="1900" b="0" i="0">
                <a:solidFill>
                  <a:srgbClr val="374553"/>
                </a:solidFill>
                <a:latin typeface="Segoe UI"/>
              </a:rPr>
              <a:t> — assertion (always-true invariant) · scoreboard (data vs reference) · expected-value</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Stimulus</a:t>
            </a:r>
            <a:r>
              <a:rPr sz="1900" b="0" i="0">
                <a:solidFill>
                  <a:srgbClr val="374553"/>
                </a:solidFill>
                <a:latin typeface="Segoe UI"/>
              </a:rPr>
              <a:t> — directed hits the corner you name; random finds the one you didn't</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Coverpoint</a:t>
            </a:r>
            <a:r>
              <a:rPr sz="1900" b="0" i="0">
                <a:solidFill>
                  <a:srgbClr val="374553"/>
                </a:solidFill>
                <a:latin typeface="Segoe UI"/>
              </a:rPr>
              <a:t> — the bin that </a:t>
            </a:r>
            <a:r>
              <a:rPr sz="1900" b="0" i="1">
                <a:solidFill>
                  <a:srgbClr val="374553"/>
                </a:solidFill>
                <a:latin typeface="Segoe UI"/>
              </a:rPr>
              <a:t>proves</a:t>
            </a:r>
            <a:r>
              <a:rPr sz="1900" b="0" i="0">
                <a:solidFill>
                  <a:srgbClr val="374553"/>
                </a:solidFill>
                <a:latin typeface="Segoe UI"/>
              </a:rPr>
              <a:t> the feature was actually exercised</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FIFO: Day-3's 5 features → refined to </a:t>
            </a:r>
            <a:r>
              <a:rPr sz="1900" b="1" i="0">
                <a:solidFill>
                  <a:srgbClr val="16202B"/>
                </a:solidFill>
                <a:latin typeface="Segoe UI"/>
              </a:rPr>
              <a:t>8</a:t>
            </a:r>
            <a:r>
              <a:rPr sz="1900" b="0" i="0">
                <a:solidFill>
                  <a:srgbClr val="374553"/>
                </a:solidFill>
                <a:latin typeface="Segoe UI"/>
              </a:rPr>
              <a:t>, each traced end to end</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DV THINKING  ·  COVERAGE</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FIFO </a:t>
            </a:r>
            <a:r>
              <a:rPr sz="2750" b="1" i="0">
                <a:solidFill>
                  <a:srgbClr val="0B5C64"/>
                </a:solidFill>
                <a:latin typeface="Consolas"/>
              </a:rPr>
              <a:t>count</a:t>
            </a:r>
            <a:r>
              <a:rPr sz="3000" b="1" i="0">
                <a:solidFill>
                  <a:srgbClr val="16202B"/>
                </a:solidFill>
                <a:latin typeface="Segoe UI"/>
              </a:rPr>
              <a:t> — Why Five Bins, Not Three</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The obvious model: </a:t>
            </a:r>
            <a:r>
              <a:rPr sz="1750" b="0" i="0">
                <a:solidFill>
                  <a:srgbClr val="0B5C64"/>
                </a:solidFill>
                <a:latin typeface="Consolas"/>
              </a:rPr>
              <a:t>empty</a:t>
            </a:r>
            <a:r>
              <a:rPr sz="1900" b="0" i="0">
                <a:solidFill>
                  <a:srgbClr val="374553"/>
                </a:solidFill>
                <a:latin typeface="Segoe UI"/>
              </a:rPr>
              <a:t> / </a:t>
            </a:r>
            <a:r>
              <a:rPr sz="1750" b="0" i="0">
                <a:solidFill>
                  <a:srgbClr val="0B5C64"/>
                </a:solidFill>
                <a:latin typeface="Consolas"/>
              </a:rPr>
              <a:t>mid</a:t>
            </a:r>
            <a:r>
              <a:rPr sz="1900" b="0" i="0">
                <a:solidFill>
                  <a:srgbClr val="374553"/>
                </a:solidFill>
                <a:latin typeface="Segoe UI"/>
              </a:rPr>
              <a:t> / </a:t>
            </a:r>
            <a:r>
              <a:rPr sz="1750" b="0" i="0">
                <a:solidFill>
                  <a:srgbClr val="0B5C64"/>
                </a:solidFill>
                <a:latin typeface="Consolas"/>
              </a:rPr>
              <a:t>full</a:t>
            </a:r>
            <a:r>
              <a:rPr sz="1900" b="0" i="0">
                <a:solidFill>
                  <a:srgbClr val="374553"/>
                </a:solidFill>
                <a:latin typeface="Segoe UI"/>
              </a:rPr>
              <a:t> — three bins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What I used: </a:t>
            </a:r>
            <a:r>
              <a:rPr sz="1750" b="0" i="0">
                <a:solidFill>
                  <a:srgbClr val="0B5C64"/>
                </a:solidFill>
                <a:latin typeface="Consolas"/>
              </a:rPr>
              <a:t>empty={0}</a:t>
            </a:r>
            <a:r>
              <a:rPr sz="1900" b="0" i="0">
                <a:solidFill>
                  <a:srgbClr val="374553"/>
                </a:solidFill>
                <a:latin typeface="Segoe UI"/>
              </a:rPr>
              <a:t> · </a:t>
            </a:r>
            <a:r>
              <a:rPr sz="1750" b="1" i="0">
                <a:solidFill>
                  <a:srgbClr val="0B5C64"/>
                </a:solidFill>
                <a:latin typeface="Consolas"/>
              </a:rPr>
              <a:t>almost_empty={1}</a:t>
            </a:r>
            <a:r>
              <a:rPr sz="1900" b="0" i="0">
                <a:solidFill>
                  <a:srgbClr val="374553"/>
                </a:solidFill>
                <a:latin typeface="Segoe UI"/>
              </a:rPr>
              <a:t> · </a:t>
            </a:r>
            <a:r>
              <a:rPr sz="1750" b="0" i="0">
                <a:solidFill>
                  <a:srgbClr val="0B5C64"/>
                </a:solidFill>
                <a:latin typeface="Consolas"/>
              </a:rPr>
              <a:t>mid={2..6}</a:t>
            </a:r>
            <a:r>
              <a:rPr sz="1900" b="0" i="0">
                <a:solidFill>
                  <a:srgbClr val="374553"/>
                </a:solidFill>
                <a:latin typeface="Segoe UI"/>
              </a:rPr>
              <a:t> · </a:t>
            </a:r>
            <a:r>
              <a:rPr sz="1750" b="1" i="0">
                <a:solidFill>
                  <a:srgbClr val="0B5C64"/>
                </a:solidFill>
                <a:latin typeface="Consolas"/>
              </a:rPr>
              <a:t>almost_full={7}</a:t>
            </a:r>
            <a:r>
              <a:rPr sz="1900" b="0" i="0">
                <a:solidFill>
                  <a:srgbClr val="374553"/>
                </a:solidFill>
                <a:latin typeface="Segoe UI"/>
              </a:rPr>
              <a:t> · </a:t>
            </a:r>
            <a:r>
              <a:rPr sz="1750" b="0" i="0">
                <a:solidFill>
                  <a:srgbClr val="0B5C64"/>
                </a:solidFill>
                <a:latin typeface="Consolas"/>
              </a:rPr>
              <a:t>full={8}</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The two boundary-</a:t>
            </a:r>
            <a:r>
              <a:rPr sz="1900" b="0" i="1">
                <a:solidFill>
                  <a:srgbClr val="374553"/>
                </a:solidFill>
                <a:latin typeface="Segoe UI"/>
              </a:rPr>
              <a:t>adjacent</a:t>
            </a:r>
            <a:r>
              <a:rPr sz="1900" b="0" i="0">
                <a:solidFill>
                  <a:srgbClr val="374553"/>
                </a:solidFill>
                <a:latin typeface="Segoe UI"/>
              </a:rPr>
              <a:t> bins are deliberate, not padding</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Off-by-one bugs hide next to a boundary, not at it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Concrete precedent: </a:t>
            </a:r>
            <a:r>
              <a:rPr sz="1750" b="0" i="0">
                <a:solidFill>
                  <a:srgbClr val="0B5C64"/>
                </a:solidFill>
                <a:latin typeface="Consolas"/>
              </a:rPr>
              <a:t>ISSUE-D5-02</a:t>
            </a:r>
            <a:r>
              <a:rPr sz="1900" b="0" i="0">
                <a:solidFill>
                  <a:srgbClr val="374553"/>
                </a:solidFill>
                <a:latin typeface="Segoe UI"/>
              </a:rPr>
              <a:t> was exactly that — one step from the boundary</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Coverage guidance for datapaths says cover </a:t>
            </a:r>
            <a:r>
              <a:rPr sz="1750" b="0" i="0">
                <a:solidFill>
                  <a:srgbClr val="0B5C64"/>
                </a:solidFill>
                <a:latin typeface="Consolas"/>
              </a:rPr>
              <a:t>0, 1, max-1, max</a:t>
            </a:r>
            <a:r>
              <a:rPr sz="1900" b="0" i="0">
                <a:solidFill>
                  <a:srgbClr val="374553"/>
                </a:solidFill>
                <a:latin typeface="Segoe UI"/>
              </a:rPr>
              <a:t> — this is why</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DV THINKING  ·  SELF-AUDIT</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Traceability Check — What the FIFO Had That the Others Didn't</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Days 9–11's exercises were scoped to </a:t>
            </a:r>
            <a:r>
              <a:rPr sz="1900" b="1" i="0">
                <a:solidFill>
                  <a:srgbClr val="16202B"/>
                </a:solidFill>
                <a:latin typeface="Segoe UI"/>
              </a:rPr>
              <a:t>the FIFO</a:t>
            </a:r>
            <a:r>
              <a:rPr sz="1900" b="0" i="0">
                <a:solidFill>
                  <a:srgbClr val="374553"/>
                </a:solidFill>
                <a:latin typeface="Segoe UI"/>
              </a:rPr>
              <a:t> throughout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Day-12 audit: the Detector and Traffic Light had coverage models and assertions…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…but </a:t>
            </a:r>
            <a:r>
              <a:rPr sz="1900" b="1" i="0">
                <a:solidFill>
                  <a:srgbClr val="16202B"/>
                </a:solidFill>
                <a:latin typeface="Segoe UI"/>
              </a:rPr>
              <a:t>no Req-IDs, no priorities, no checker assignments, no traceability</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12 of 20</a:t>
            </a:r>
            <a:r>
              <a:rPr sz="1900" b="0" i="0">
                <a:solidFill>
                  <a:srgbClr val="374553"/>
                </a:solidFill>
                <a:latin typeface="Segoe UI"/>
              </a:rPr>
              <a:t> features across the three designs were untraced — including </a:t>
            </a:r>
            <a:r>
              <a:rPr sz="1900" b="1" i="0">
                <a:solidFill>
                  <a:srgbClr val="16202B"/>
                </a:solidFill>
                <a:latin typeface="Segoe UI"/>
              </a:rPr>
              <a:t>8 P0s</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Worst of it: </a:t>
            </a:r>
            <a:r>
              <a:rPr sz="1750" b="0" i="0">
                <a:solidFill>
                  <a:srgbClr val="0B5C64"/>
                </a:solidFill>
                <a:latin typeface="Consolas"/>
              </a:rPr>
              <a:t>ISSUE-D5-02</a:t>
            </a:r>
            <a:r>
              <a:rPr sz="1900" b="0" i="0">
                <a:solidFill>
                  <a:srgbClr val="374553"/>
                </a:solidFill>
                <a:latin typeface="Segoe UI"/>
              </a:rPr>
              <a:t>, a </a:t>
            </a:r>
            <a:r>
              <a:rPr sz="1900" b="0" i="1">
                <a:solidFill>
                  <a:srgbClr val="374553"/>
                </a:solidFill>
                <a:latin typeface="Segoe UI"/>
              </a:rPr>
              <a:t>real fixed bug</a:t>
            </a:r>
            <a:r>
              <a:rPr sz="1900" b="0" i="0">
                <a:solidFill>
                  <a:srgbClr val="374553"/>
                </a:solidFill>
                <a:latin typeface="Segoe UI"/>
              </a:rPr>
              <a:t>, had no permanent regression test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Closed it: full Feature → Req-ID → Checker → Stimulus → Priority → Coverage tables for all three</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STATUS</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2700" b="1" i="0">
                <a:solidFill>
                  <a:srgbClr val="16202B"/>
                </a:solidFill>
                <a:latin typeface="Segoe UI"/>
              </a:rPr>
              <a:t>What's Verified, and What a DV Engineer Would Do Next</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Done:</a:t>
            </a:r>
            <a:r>
              <a:rPr sz="1900" b="0" i="0">
                <a:solidFill>
                  <a:srgbClr val="374553"/>
                </a:solidFill>
                <a:latin typeface="Segoe UI"/>
              </a:rPr>
              <a:t> three RTLs simulate correctly · 6 tests (3 smoke + 3 focused regressions)</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Done:</a:t>
            </a:r>
            <a:r>
              <a:rPr sz="1900" b="0" i="0">
                <a:solidFill>
                  <a:srgbClr val="374553"/>
                </a:solidFill>
                <a:latin typeface="Segoe UI"/>
              </a:rPr>
              <a:t> full written verification plan — features, Req-IDs, checkers, priorities, coverage models</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Deliberately not done:</a:t>
            </a:r>
            <a:r>
              <a:rPr sz="1900" b="0" i="0">
                <a:solidFill>
                  <a:srgbClr val="374553"/>
                </a:solidFill>
                <a:latin typeface="Segoe UI"/>
              </a:rPr>
              <a:t> none of it is </a:t>
            </a:r>
            <a:r>
              <a:rPr sz="1900" b="0" i="1">
                <a:solidFill>
                  <a:srgbClr val="374553"/>
                </a:solidFill>
                <a:latin typeface="Segoe UI"/>
              </a:rPr>
              <a:t>coded</a:t>
            </a:r>
            <a:r>
              <a:rPr sz="1900" b="0" i="0">
                <a:solidFill>
                  <a:srgbClr val="374553"/>
                </a:solidFill>
                <a:latin typeface="Segoe UI"/>
              </a:rPr>
              <a:t> as SystemVerilog yet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No </a:t>
            </a:r>
            <a:r>
              <a:rPr sz="1750" b="0" i="0">
                <a:solidFill>
                  <a:srgbClr val="0B5C64"/>
                </a:solidFill>
                <a:latin typeface="Consolas"/>
              </a:rPr>
              <a:t>covergroup</a:t>
            </a:r>
            <a:r>
              <a:rPr sz="1900" b="0" i="0">
                <a:solidFill>
                  <a:srgbClr val="374553"/>
                </a:solidFill>
                <a:latin typeface="Segoe UI"/>
              </a:rPr>
              <a:t>/</a:t>
            </a:r>
            <a:r>
              <a:rPr sz="1750" b="0" i="0">
                <a:solidFill>
                  <a:srgbClr val="0B5C64"/>
                </a:solidFill>
                <a:latin typeface="Consolas"/>
              </a:rPr>
              <a:t>bins</a:t>
            </a:r>
            <a:r>
              <a:rPr sz="1900" b="0" i="0">
                <a:solidFill>
                  <a:srgbClr val="374553"/>
                </a:solidFill>
                <a:latin typeface="Segoe UI"/>
              </a:rPr>
              <a:t>, no </a:t>
            </a:r>
            <a:r>
              <a:rPr sz="1750" b="0" i="0">
                <a:solidFill>
                  <a:srgbClr val="0B5C64"/>
                </a:solidFill>
                <a:latin typeface="Consolas"/>
              </a:rPr>
              <a:t>assert property</a:t>
            </a:r>
            <a:r>
              <a:rPr sz="1900" b="0" i="0">
                <a:solidFill>
                  <a:srgbClr val="374553"/>
                </a:solidFill>
                <a:latin typeface="Segoe UI"/>
              </a:rPr>
              <a:t> (SVA), no scoreboard with a reference model</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 therefore </a:t>
            </a:r>
            <a:r>
              <a:rPr sz="1900" b="1" i="0">
                <a:solidFill>
                  <a:srgbClr val="16202B"/>
                </a:solidFill>
                <a:latin typeface="Segoe UI"/>
              </a:rPr>
              <a:t>no measured coverage numbers</a:t>
            </a:r>
            <a:r>
              <a:rPr sz="1900" b="0" i="0">
                <a:solidFill>
                  <a:srgbClr val="374553"/>
                </a:solidFill>
                <a:latin typeface="Segoe UI"/>
              </a:rPr>
              <a:t> — the plan is a specification</a:t>
            </a:r>
          </a:p>
          <a:p>
            <a:pPr marL="274320" indent="-274320">
              <a:lnSpc>
                <a:spcPct val="130000"/>
              </a:lnSpc>
              <a:spcAft>
                <a:spcPts val="1330"/>
              </a:spcAft>
              <a:buClr>
                <a:srgbClr val="0E7C86"/>
              </a:buClr>
              <a:buSzPct val="78000"/>
              <a:buFont typeface="Arial"/>
              <a:buChar char="▪"/>
            </a:pPr>
            <a:r>
              <a:rPr sz="1900" b="1" i="0">
                <a:solidFill>
                  <a:srgbClr val="16202B"/>
                </a:solidFill>
                <a:latin typeface="Segoe UI"/>
              </a:rPr>
              <a:t>Next:</a:t>
            </a:r>
            <a:r>
              <a:rPr sz="1900" b="0" i="0">
                <a:solidFill>
                  <a:srgbClr val="374553"/>
                </a:solidFill>
                <a:latin typeface="Segoe UI"/>
              </a:rPr>
              <a:t> turn every "Coverage Item" cell into real SV and collect actual percentages</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0E7C86"/>
                </a:solidFill>
                <a:latin typeface="Segoe UI"/>
              </a:rPr>
              <a:t>CLOSING</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What I'd Emphasise</a:t>
            </a:r>
          </a:p>
        </p:txBody>
      </p:sp>
      <p:sp>
        <p:nvSpPr>
          <p:cNvPr id="6" name="Rectangle 5"/>
          <p:cNvSpPr/>
          <p:nvPr/>
        </p:nvSpPr>
        <p:spPr>
          <a:xfrm>
            <a:off x="713232" y="1737360"/>
            <a:ext cx="1170432" cy="411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The RTL was the easy part — the discipline around it was the real content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Two bugs taught the most: a Moore/Mealy timing confusion, and a bug hidden by its own test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Recurring lesson: </a:t>
            </a:r>
            <a:r>
              <a:rPr sz="1900" b="1" i="0">
                <a:solidFill>
                  <a:srgbClr val="16202B"/>
                </a:solidFill>
                <a:latin typeface="Segoe UI"/>
              </a:rPr>
              <a:t>hand-trace, then simulate — and verify how you're sampling before you trust it</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Every failure I hit came from trusting a write-up or a by-eye log over the simulation</a:t>
            </a:r>
          </a:p>
          <a:p>
            <a:pPr marL="274320" indent="-274320">
              <a:lnSpc>
                <a:spcPct val="130000"/>
              </a:lnSpc>
              <a:spcAft>
                <a:spcPts val="1330"/>
              </a:spcAft>
              <a:buClr>
                <a:srgbClr val="0E7C86"/>
              </a:buClr>
              <a:buSzPct val="78000"/>
              <a:buFont typeface="Arial"/>
              <a:buChar char="▪"/>
            </a:pPr>
            <a:r>
              <a:rPr sz="1900" b="0" i="0">
                <a:solidFill>
                  <a:srgbClr val="374553"/>
                </a:solidFill>
                <a:latin typeface="Segoe UI"/>
              </a:rPr>
              <a:t>Everything is traceable: feature → test → coverage, with an issue log that keeps the unflattering entries</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0E7C86"/>
                </a:solidFill>
                <a:latin typeface="Segoe UI"/>
              </a:rPr>
              <a:t>18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8A96A3"/>
                </a:solidFill>
                <a:latin typeface="Segoe UI"/>
              </a:rPr>
              <a:t>BACKUP  ·  FOR Q&amp;A</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Backup — Sequence Detector, All 10 Transition Arcs</a:t>
            </a:r>
          </a:p>
        </p:txBody>
      </p:sp>
      <p:sp>
        <p:nvSpPr>
          <p:cNvPr id="6" name="Rectangle 5"/>
          <p:cNvSpPr/>
          <p:nvPr/>
        </p:nvSpPr>
        <p:spPr>
          <a:xfrm>
            <a:off x="713232" y="1737360"/>
            <a:ext cx="1170432" cy="41148"/>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8A96A3"/>
              </a:buClr>
              <a:buSzPct val="78000"/>
              <a:buFont typeface="Arial"/>
              <a:buChar char="▪"/>
            </a:pPr>
            <a:r>
              <a:rPr sz="1750" b="0" i="0">
                <a:solidFill>
                  <a:srgbClr val="0B5C64"/>
                </a:solidFill>
                <a:latin typeface="Consolas"/>
              </a:rPr>
              <a:t>IDLE</a:t>
            </a:r>
            <a:r>
              <a:rPr sz="1900" b="0" i="0">
                <a:solidFill>
                  <a:srgbClr val="374553"/>
                </a:solidFill>
                <a:latin typeface="Segoe UI"/>
              </a:rPr>
              <a:t> —0→ </a:t>
            </a:r>
            <a:r>
              <a:rPr sz="1750" b="0" i="0">
                <a:solidFill>
                  <a:srgbClr val="0B5C64"/>
                </a:solidFill>
                <a:latin typeface="Consolas"/>
              </a:rPr>
              <a:t>IDLE</a:t>
            </a:r>
            <a:r>
              <a:rPr sz="1900" b="0" i="0">
                <a:solidFill>
                  <a:srgbClr val="374553"/>
                </a:solidFill>
                <a:latin typeface="Segoe UI"/>
              </a:rPr>
              <a:t> (self-loop, no progress) · </a:t>
            </a:r>
            <a:r>
              <a:rPr sz="1750" b="0" i="0">
                <a:solidFill>
                  <a:srgbClr val="0B5C64"/>
                </a:solidFill>
                <a:latin typeface="Consolas"/>
              </a:rPr>
              <a:t>IDLE</a:t>
            </a:r>
            <a:r>
              <a:rPr sz="1900" b="0" i="0">
                <a:solidFill>
                  <a:srgbClr val="374553"/>
                </a:solidFill>
                <a:latin typeface="Segoe UI"/>
              </a:rPr>
              <a:t> —1→ </a:t>
            </a:r>
            <a:r>
              <a:rPr sz="1750" b="0" i="0">
                <a:solidFill>
                  <a:srgbClr val="0B5C64"/>
                </a:solidFill>
                <a:latin typeface="Consolas"/>
              </a:rPr>
              <a:t>S1</a:t>
            </a:r>
          </a:p>
          <a:p>
            <a:pPr marL="274320" indent="-274320">
              <a:lnSpc>
                <a:spcPct val="130000"/>
              </a:lnSpc>
              <a:spcAft>
                <a:spcPts val="1330"/>
              </a:spcAft>
              <a:buClr>
                <a:srgbClr val="8A96A3"/>
              </a:buClr>
              <a:buSzPct val="78000"/>
              <a:buFont typeface="Arial"/>
              <a:buChar char="▪"/>
            </a:pPr>
            <a:r>
              <a:rPr sz="1750" b="0" i="0">
                <a:solidFill>
                  <a:srgbClr val="0B5C64"/>
                </a:solidFill>
                <a:latin typeface="Consolas"/>
              </a:rPr>
              <a:t>S1</a:t>
            </a:r>
            <a:r>
              <a:rPr sz="1900" b="0" i="0">
                <a:solidFill>
                  <a:srgbClr val="374553"/>
                </a:solidFill>
                <a:latin typeface="Segoe UI"/>
              </a:rPr>
              <a:t> —0→ </a:t>
            </a:r>
            <a:r>
              <a:rPr sz="1750" b="0" i="0">
                <a:solidFill>
                  <a:srgbClr val="0B5C64"/>
                </a:solidFill>
                <a:latin typeface="Consolas"/>
              </a:rPr>
              <a:t>S10</a:t>
            </a:r>
            <a:r>
              <a:rPr sz="1900" b="0" i="0">
                <a:solidFill>
                  <a:srgbClr val="374553"/>
                </a:solidFill>
                <a:latin typeface="Segoe UI"/>
              </a:rPr>
              <a:t> · </a:t>
            </a:r>
            <a:r>
              <a:rPr sz="1750" b="0" i="0">
                <a:solidFill>
                  <a:srgbClr val="0B5C64"/>
                </a:solidFill>
                <a:latin typeface="Consolas"/>
              </a:rPr>
              <a:t>S1</a:t>
            </a:r>
            <a:r>
              <a:rPr sz="1900" b="0" i="0">
                <a:solidFill>
                  <a:srgbClr val="374553"/>
                </a:solidFill>
                <a:latin typeface="Segoe UI"/>
              </a:rPr>
              <a:t> —1→ </a:t>
            </a:r>
            <a:r>
              <a:rPr sz="1750" b="0" i="0">
                <a:solidFill>
                  <a:srgbClr val="0B5C64"/>
                </a:solidFill>
                <a:latin typeface="Consolas"/>
              </a:rPr>
              <a:t>S1</a:t>
            </a:r>
            <a:r>
              <a:rPr sz="1900" b="0" i="0">
                <a:solidFill>
                  <a:srgbClr val="374553"/>
                </a:solidFill>
                <a:latin typeface="Segoe UI"/>
              </a:rPr>
              <a:t> (self-loop, still just </a:t>
            </a:r>
            <a:r>
              <a:rPr sz="1750" b="0" i="0">
                <a:solidFill>
                  <a:srgbClr val="0B5C64"/>
                </a:solidFill>
                <a:latin typeface="Consolas"/>
              </a:rPr>
              <a:t>…1</a:t>
            </a:r>
            <a:r>
              <a:rPr sz="1900" b="0" i="0">
                <a:solidFill>
                  <a:srgbClr val="374553"/>
                </a:solidFill>
                <a:latin typeface="Segoe UI"/>
              </a:rPr>
              <a:t>)</a:t>
            </a:r>
          </a:p>
          <a:p>
            <a:pPr marL="274320" indent="-274320">
              <a:lnSpc>
                <a:spcPct val="130000"/>
              </a:lnSpc>
              <a:spcAft>
                <a:spcPts val="1330"/>
              </a:spcAft>
              <a:buClr>
                <a:srgbClr val="8A96A3"/>
              </a:buClr>
              <a:buSzPct val="78000"/>
              <a:buFont typeface="Arial"/>
              <a:buChar char="▪"/>
            </a:pPr>
            <a:r>
              <a:rPr sz="1750" b="0" i="0">
                <a:solidFill>
                  <a:srgbClr val="0B5C64"/>
                </a:solidFill>
                <a:latin typeface="Consolas"/>
              </a:rPr>
              <a:t>S10</a:t>
            </a:r>
            <a:r>
              <a:rPr sz="1900" b="0" i="0">
                <a:solidFill>
                  <a:srgbClr val="374553"/>
                </a:solidFill>
                <a:latin typeface="Segoe UI"/>
              </a:rPr>
              <a:t> —0→ </a:t>
            </a:r>
            <a:r>
              <a:rPr sz="1750" b="0" i="0">
                <a:solidFill>
                  <a:srgbClr val="0B5C64"/>
                </a:solidFill>
                <a:latin typeface="Consolas"/>
              </a:rPr>
              <a:t>IDLE</a:t>
            </a:r>
            <a:r>
              <a:rPr sz="1900" b="0" i="0">
                <a:solidFill>
                  <a:srgbClr val="374553"/>
                </a:solidFill>
                <a:latin typeface="Segoe UI"/>
              </a:rPr>
              <a:t> (</a:t>
            </a:r>
            <a:r>
              <a:rPr sz="1750" b="0" i="0">
                <a:solidFill>
                  <a:srgbClr val="0B5C64"/>
                </a:solidFill>
                <a:latin typeface="Consolas"/>
              </a:rPr>
              <a:t>100</a:t>
            </a:r>
            <a:r>
              <a:rPr sz="1900" b="0" i="0">
                <a:solidFill>
                  <a:srgbClr val="374553"/>
                </a:solidFill>
                <a:latin typeface="Segoe UI"/>
              </a:rPr>
              <a:t>, no usable prefix) · </a:t>
            </a:r>
            <a:r>
              <a:rPr sz="1750" b="0" i="0">
                <a:solidFill>
                  <a:srgbClr val="0B5C64"/>
                </a:solidFill>
                <a:latin typeface="Consolas"/>
              </a:rPr>
              <a:t>S10</a:t>
            </a:r>
            <a:r>
              <a:rPr sz="1900" b="0" i="0">
                <a:solidFill>
                  <a:srgbClr val="374553"/>
                </a:solidFill>
                <a:latin typeface="Segoe UI"/>
              </a:rPr>
              <a:t> —1→ </a:t>
            </a:r>
            <a:r>
              <a:rPr sz="1750" b="0" i="0">
                <a:solidFill>
                  <a:srgbClr val="0B5C64"/>
                </a:solidFill>
                <a:latin typeface="Consolas"/>
              </a:rPr>
              <a:t>S101</a:t>
            </a:r>
          </a:p>
          <a:p>
            <a:pPr marL="274320" indent="-274320">
              <a:lnSpc>
                <a:spcPct val="130000"/>
              </a:lnSpc>
              <a:spcAft>
                <a:spcPts val="1330"/>
              </a:spcAft>
              <a:buClr>
                <a:srgbClr val="8A96A3"/>
              </a:buClr>
              <a:buSzPct val="78000"/>
              <a:buFont typeface="Arial"/>
              <a:buChar char="▪"/>
            </a:pPr>
            <a:r>
              <a:rPr sz="1750" b="0" i="0">
                <a:solidFill>
                  <a:srgbClr val="0B5C64"/>
                </a:solidFill>
                <a:latin typeface="Consolas"/>
              </a:rPr>
              <a:t>S101</a:t>
            </a:r>
            <a:r>
              <a:rPr sz="1900" b="0" i="0">
                <a:solidFill>
                  <a:srgbClr val="374553"/>
                </a:solidFill>
                <a:latin typeface="Segoe UI"/>
              </a:rPr>
              <a:t> —0→ </a:t>
            </a:r>
            <a:r>
              <a:rPr sz="1750" b="0" i="0">
                <a:solidFill>
                  <a:srgbClr val="0B5C64"/>
                </a:solidFill>
                <a:latin typeface="Consolas"/>
              </a:rPr>
              <a:t>S10</a:t>
            </a:r>
            <a:r>
              <a:rPr sz="1900" b="0" i="0">
                <a:solidFill>
                  <a:srgbClr val="374553"/>
                </a:solidFill>
                <a:latin typeface="Segoe UI"/>
              </a:rPr>
              <a:t> (</a:t>
            </a:r>
            <a:r>
              <a:rPr sz="1750" b="0" i="0">
                <a:solidFill>
                  <a:srgbClr val="0B5C64"/>
                </a:solidFill>
                <a:latin typeface="Consolas"/>
              </a:rPr>
              <a:t>1010</a:t>
            </a:r>
            <a:r>
              <a:rPr sz="1900" b="0" i="0">
                <a:solidFill>
                  <a:srgbClr val="374553"/>
                </a:solidFill>
                <a:latin typeface="Segoe UI"/>
              </a:rPr>
              <a:t>, trailing </a:t>
            </a:r>
            <a:r>
              <a:rPr sz="1750" b="0" i="0">
                <a:solidFill>
                  <a:srgbClr val="0B5C64"/>
                </a:solidFill>
                <a:latin typeface="Consolas"/>
              </a:rPr>
              <a:t>10</a:t>
            </a:r>
            <a:r>
              <a:rPr sz="1900" b="0" i="0">
                <a:solidFill>
                  <a:srgbClr val="374553"/>
                </a:solidFill>
                <a:latin typeface="Segoe UI"/>
              </a:rPr>
              <a:t> still useful) · </a:t>
            </a:r>
            <a:r>
              <a:rPr sz="1750" b="0" i="0">
                <a:solidFill>
                  <a:srgbClr val="0B5C64"/>
                </a:solidFill>
                <a:latin typeface="Consolas"/>
              </a:rPr>
              <a:t>S101</a:t>
            </a:r>
            <a:r>
              <a:rPr sz="1900" b="0" i="0">
                <a:solidFill>
                  <a:srgbClr val="374553"/>
                </a:solidFill>
                <a:latin typeface="Segoe UI"/>
              </a:rPr>
              <a:t> —1→ </a:t>
            </a:r>
            <a:r>
              <a:rPr sz="1750" b="1" i="0">
                <a:solidFill>
                  <a:srgbClr val="0B5C64"/>
                </a:solidFill>
                <a:latin typeface="Consolas"/>
              </a:rPr>
              <a:t>S1011</a:t>
            </a:r>
            <a:r>
              <a:rPr sz="1900" b="0" i="0">
                <a:solidFill>
                  <a:srgbClr val="374553"/>
                </a:solidFill>
                <a:latin typeface="Segoe UI"/>
              </a:rPr>
              <a:t> (match)</a:t>
            </a:r>
          </a:p>
          <a:p>
            <a:pPr marL="274320" indent="-274320">
              <a:lnSpc>
                <a:spcPct val="130000"/>
              </a:lnSpc>
              <a:spcAft>
                <a:spcPts val="1330"/>
              </a:spcAft>
              <a:buClr>
                <a:srgbClr val="8A96A3"/>
              </a:buClr>
              <a:buSzPct val="78000"/>
              <a:buFont typeface="Arial"/>
              <a:buChar char="▪"/>
            </a:pPr>
            <a:r>
              <a:rPr sz="1750" b="0" i="0">
                <a:solidFill>
                  <a:srgbClr val="0B5C64"/>
                </a:solidFill>
                <a:latin typeface="Consolas"/>
              </a:rPr>
              <a:t>S1011</a:t>
            </a:r>
            <a:r>
              <a:rPr sz="1900" b="0" i="0">
                <a:solidFill>
                  <a:srgbClr val="374553"/>
                </a:solidFill>
                <a:latin typeface="Segoe UI"/>
              </a:rPr>
              <a:t> —0→ </a:t>
            </a:r>
            <a:r>
              <a:rPr sz="1750" b="0" i="0">
                <a:solidFill>
                  <a:srgbClr val="0B5C64"/>
                </a:solidFill>
                <a:latin typeface="Consolas"/>
              </a:rPr>
              <a:t>S10</a:t>
            </a:r>
            <a:r>
              <a:rPr sz="1900" b="0" i="0">
                <a:solidFill>
                  <a:srgbClr val="374553"/>
                </a:solidFill>
                <a:latin typeface="Segoe UI"/>
              </a:rPr>
              <a:t> · </a:t>
            </a:r>
            <a:r>
              <a:rPr sz="1750" b="0" i="0">
                <a:solidFill>
                  <a:srgbClr val="0B5C64"/>
                </a:solidFill>
                <a:latin typeface="Consolas"/>
              </a:rPr>
              <a:t>S1011</a:t>
            </a:r>
            <a:r>
              <a:rPr sz="1900" b="0" i="0">
                <a:solidFill>
                  <a:srgbClr val="374553"/>
                </a:solidFill>
                <a:latin typeface="Segoe UI"/>
              </a:rPr>
              <a:t> —1→ </a:t>
            </a:r>
            <a:r>
              <a:rPr sz="1750" b="0" i="0">
                <a:solidFill>
                  <a:srgbClr val="0B5C64"/>
                </a:solidFill>
                <a:latin typeface="Consolas"/>
              </a:rPr>
              <a:t>S1</a:t>
            </a:r>
            <a:r>
              <a:rPr sz="1900" b="0" i="0">
                <a:solidFill>
                  <a:srgbClr val="374553"/>
                </a:solidFill>
                <a:latin typeface="Segoe UI"/>
              </a:rPr>
              <a:t> (</a:t>
            </a:r>
            <a:r>
              <a:rPr sz="1900" b="1" i="0">
                <a:solidFill>
                  <a:srgbClr val="16202B"/>
                </a:solidFill>
                <a:latin typeface="Segoe UI"/>
              </a:rPr>
              <a:t>overlap</a:t>
            </a:r>
            <a:r>
              <a:rPr sz="1900" b="0" i="0">
                <a:solidFill>
                  <a:srgbClr val="374553"/>
                </a:solidFill>
                <a:latin typeface="Segoe UI"/>
              </a:rPr>
              <a:t>)</a:t>
            </a:r>
          </a:p>
          <a:p>
            <a:pPr marL="274320" indent="-274320">
              <a:lnSpc>
                <a:spcPct val="130000"/>
              </a:lnSpc>
              <a:spcAft>
                <a:spcPts val="1330"/>
              </a:spcAft>
              <a:buClr>
                <a:srgbClr val="8A96A3"/>
              </a:buClr>
              <a:buSzPct val="78000"/>
              <a:buFont typeface="Arial"/>
              <a:buChar char="▪"/>
            </a:pPr>
            <a:r>
              <a:rPr sz="1900" b="0" i="0">
                <a:solidFill>
                  <a:srgbClr val="374553"/>
                </a:solidFill>
                <a:latin typeface="Segoe UI"/>
              </a:rPr>
              <a:t>Output: </a:t>
            </a:r>
            <a:r>
              <a:rPr sz="1750" b="0" i="0">
                <a:solidFill>
                  <a:srgbClr val="0B5C64"/>
                </a:solidFill>
                <a:latin typeface="Consolas"/>
              </a:rPr>
              <a:t>detected = 1</a:t>
            </a:r>
            <a:r>
              <a:rPr sz="1900" b="0" i="0">
                <a:solidFill>
                  <a:srgbClr val="374553"/>
                </a:solidFill>
                <a:latin typeface="Segoe UI"/>
              </a:rPr>
              <a:t> in </a:t>
            </a:r>
            <a:r>
              <a:rPr sz="1750" b="0" i="0">
                <a:solidFill>
                  <a:srgbClr val="0B5C64"/>
                </a:solidFill>
                <a:latin typeface="Consolas"/>
              </a:rPr>
              <a:t>S1011</a:t>
            </a:r>
            <a:r>
              <a:rPr sz="1900" b="0" i="0">
                <a:solidFill>
                  <a:srgbClr val="374553"/>
                </a:solidFill>
                <a:latin typeface="Segoe UI"/>
              </a:rPr>
              <a:t> only; </a:t>
            </a:r>
            <a:r>
              <a:rPr sz="1750" b="0" i="0">
                <a:solidFill>
                  <a:srgbClr val="0B5C64"/>
                </a:solidFill>
                <a:latin typeface="Consolas"/>
              </a:rPr>
              <a:t>0</a:t>
            </a:r>
            <a:r>
              <a:rPr sz="1900" b="0" i="0">
                <a:solidFill>
                  <a:srgbClr val="374553"/>
                </a:solidFill>
                <a:latin typeface="Segoe UI"/>
              </a:rPr>
              <a:t> in all other states</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8A96A3"/>
                </a:solidFill>
                <a:latin typeface="Segoe UI"/>
              </a:rPr>
              <a:t>BACKUP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771632" cy="274320"/>
          </a:xfrm>
          <a:prstGeom prst="rect">
            <a:avLst/>
          </a:prstGeom>
          <a:noFill/>
        </p:spPr>
        <p:txBody>
          <a:bodyPr wrap="square" anchor="t" lIns="0" rIns="0" tIns="0" bIns="0">
            <a:spAutoFit/>
          </a:bodyPr>
          <a:lstStyle/>
          <a:p>
            <a:r>
              <a:rPr sz="1050" b="1">
                <a:solidFill>
                  <a:srgbClr val="8A96A3"/>
                </a:solidFill>
                <a:latin typeface="Segoe UI"/>
              </a:rPr>
              <a:t>BACKUP  ·  FOR Q&amp;A</a:t>
            </a:r>
          </a:p>
        </p:txBody>
      </p:sp>
      <p:sp>
        <p:nvSpPr>
          <p:cNvPr id="5" name="TextBox 4"/>
          <p:cNvSpPr txBox="1"/>
          <p:nvPr/>
        </p:nvSpPr>
        <p:spPr>
          <a:xfrm>
            <a:off x="713232" y="786384"/>
            <a:ext cx="10771632" cy="914400"/>
          </a:xfrm>
          <a:prstGeom prst="rect">
            <a:avLst/>
          </a:prstGeom>
          <a:noFill/>
        </p:spPr>
        <p:txBody>
          <a:bodyPr wrap="square" anchor="t" lIns="0" rIns="0" tIns="0" bIns="0">
            <a:spAutoFit/>
          </a:bodyPr>
          <a:lstStyle/>
          <a:p>
            <a:pPr>
              <a:lnSpc>
                <a:spcPct val="104000"/>
              </a:lnSpc>
            </a:pPr>
            <a:r>
              <a:rPr sz="3000" b="1" i="0">
                <a:solidFill>
                  <a:srgbClr val="16202B"/>
                </a:solidFill>
                <a:latin typeface="Segoe UI"/>
              </a:rPr>
              <a:t>Backup — 13 Logged Issues, 8 FIFO Features</a:t>
            </a:r>
          </a:p>
        </p:txBody>
      </p:sp>
      <p:sp>
        <p:nvSpPr>
          <p:cNvPr id="6" name="Rectangle 5"/>
          <p:cNvSpPr/>
          <p:nvPr/>
        </p:nvSpPr>
        <p:spPr>
          <a:xfrm>
            <a:off x="713232" y="1737360"/>
            <a:ext cx="1170432" cy="41148"/>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03120"/>
            <a:ext cx="10771632" cy="4224528"/>
          </a:xfrm>
          <a:prstGeom prst="rect">
            <a:avLst/>
          </a:prstGeom>
          <a:noFill/>
        </p:spPr>
        <p:txBody>
          <a:bodyPr wrap="square" anchor="t" lIns="0" rIns="0" tIns="0" bIns="0">
            <a:spAutoFit/>
          </a:bodyPr>
          <a:lstStyle/>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Design bugs:</a:t>
            </a:r>
            <a:r>
              <a:rPr sz="1900" b="0" i="0">
                <a:solidFill>
                  <a:srgbClr val="374553"/>
                </a:solidFill>
                <a:latin typeface="Segoe UI"/>
              </a:rPr>
              <a:t> D5-01 (part-select syntax) · D5-02 (reset off-by-one)</a:t>
            </a:r>
          </a:p>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Testbench bugs:</a:t>
            </a:r>
            <a:r>
              <a:rPr sz="1900" b="0" i="0">
                <a:solidFill>
                  <a:srgbClr val="374553"/>
                </a:solidFill>
                <a:latin typeface="Segoe UI"/>
              </a:rPr>
              <a:t> D5-03 (mis-sampled logging) · multi-wrap task sequencing</a:t>
            </a:r>
          </a:p>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Design decisions resolved:</a:t>
            </a:r>
            <a:r>
              <a:rPr sz="1900" b="0" i="0">
                <a:solidFill>
                  <a:srgbClr val="374553"/>
                </a:solidFill>
                <a:latin typeface="Segoe UI"/>
              </a:rPr>
              <a:t> D2-01 (Moore vs Mealy) · D4-01 (pulse timing)</a:t>
            </a:r>
          </a:p>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Coverage/plan gaps:</a:t>
            </a:r>
            <a:r>
              <a:rPr sz="1900" b="0" i="0">
                <a:solidFill>
                  <a:srgbClr val="374553"/>
                </a:solidFill>
                <a:latin typeface="Segoe UI"/>
              </a:rPr>
              <a:t> D6-01 · D7-01 · D7-02 · D9-01 · D12-01</a:t>
            </a:r>
          </a:p>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Self-corrections:</a:t>
            </a:r>
            <a:r>
              <a:rPr sz="1900" b="0" i="0">
                <a:solidFill>
                  <a:srgbClr val="374553"/>
                </a:solidFill>
                <a:latin typeface="Segoe UI"/>
              </a:rPr>
              <a:t> D3-01 (terminology) · D10-01 (checker type) · D8-01 (doc consistency)</a:t>
            </a:r>
          </a:p>
          <a:p>
            <a:pPr marL="274320" indent="-274320">
              <a:lnSpc>
                <a:spcPct val="130000"/>
              </a:lnSpc>
              <a:spcAft>
                <a:spcPts val="1330"/>
              </a:spcAft>
              <a:buClr>
                <a:srgbClr val="8A96A3"/>
              </a:buClr>
              <a:buSzPct val="78000"/>
              <a:buFont typeface="Arial"/>
              <a:buChar char="▪"/>
            </a:pPr>
            <a:r>
              <a:rPr sz="1900" b="1" i="0">
                <a:solidFill>
                  <a:srgbClr val="16202B"/>
                </a:solidFill>
                <a:latin typeface="Segoe UI"/>
              </a:rPr>
              <a:t>FIFO features:</a:t>
            </a:r>
            <a:r>
              <a:rPr sz="1900" b="0" i="0">
                <a:solidFill>
                  <a:srgbClr val="374553"/>
                </a:solidFill>
                <a:latin typeface="Segoe UI"/>
              </a:rPr>
              <a:t> </a:t>
            </a:r>
            <a:r>
              <a:rPr sz="1750" b="0" i="0">
                <a:solidFill>
                  <a:srgbClr val="0B5C64"/>
                </a:solidFill>
                <a:latin typeface="Consolas"/>
              </a:rPr>
              <a:t>RST_001</a:t>
            </a:r>
            <a:r>
              <a:rPr sz="1900" b="0" i="0">
                <a:solidFill>
                  <a:srgbClr val="374553"/>
                </a:solidFill>
                <a:latin typeface="Segoe UI"/>
              </a:rPr>
              <a:t> · </a:t>
            </a:r>
            <a:r>
              <a:rPr sz="1750" b="0" i="0">
                <a:solidFill>
                  <a:srgbClr val="0B5C64"/>
                </a:solidFill>
                <a:latin typeface="Consolas"/>
              </a:rPr>
              <a:t>FUNC_001-002</a:t>
            </a:r>
            <a:r>
              <a:rPr sz="1900" b="0" i="0">
                <a:solidFill>
                  <a:srgbClr val="374553"/>
                </a:solidFill>
                <a:latin typeface="Segoe UI"/>
              </a:rPr>
              <a:t> · </a:t>
            </a:r>
            <a:r>
              <a:rPr sz="1750" b="0" i="0">
                <a:solidFill>
                  <a:srgbClr val="0B5C64"/>
                </a:solidFill>
                <a:latin typeface="Consolas"/>
              </a:rPr>
              <a:t>CORNER_001-003</a:t>
            </a:r>
            <a:r>
              <a:rPr sz="1900" b="0" i="0">
                <a:solidFill>
                  <a:srgbClr val="374553"/>
                </a:solidFill>
                <a:latin typeface="Segoe UI"/>
              </a:rPr>
              <a:t> · </a:t>
            </a:r>
            <a:r>
              <a:rPr sz="1750" b="0" i="0">
                <a:solidFill>
                  <a:srgbClr val="0B5C64"/>
                </a:solidFill>
                <a:latin typeface="Consolas"/>
              </a:rPr>
              <a:t>NEG_001-002</a:t>
            </a:r>
          </a:p>
        </p:txBody>
      </p:sp>
      <p:sp>
        <p:nvSpPr>
          <p:cNvPr id="8" name="Rectangle 7"/>
          <p:cNvSpPr/>
          <p:nvPr/>
        </p:nvSpPr>
        <p:spPr>
          <a:xfrm>
            <a:off x="713232" y="6400800"/>
            <a:ext cx="10771632" cy="10972"/>
          </a:xfrm>
          <a:prstGeom prst="rect">
            <a:avLst/>
          </a:prstGeom>
          <a:solidFill>
            <a:srgbClr val="E2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92240"/>
            <a:ext cx="8229600" cy="274320"/>
          </a:xfrm>
          <a:prstGeom prst="rect">
            <a:avLst/>
          </a:prstGeom>
          <a:noFill/>
        </p:spPr>
        <p:txBody>
          <a:bodyPr wrap="square" anchor="t" lIns="0" rIns="0" tIns="0" bIns="0">
            <a:spAutoFit/>
          </a:bodyPr>
          <a:lstStyle/>
          <a:p>
            <a:r>
              <a:rPr sz="900">
                <a:solidFill>
                  <a:srgbClr val="8A96A3"/>
                </a:solidFill>
                <a:latin typeface="Segoe UI"/>
              </a:rPr>
              <a:t>RTL &amp; DV Fundamentals — 14-Day Assignment  ·  Nur Mohammad Abdullah</a:t>
            </a:r>
          </a:p>
        </p:txBody>
      </p:sp>
      <p:sp>
        <p:nvSpPr>
          <p:cNvPr id="10" name="TextBox 9"/>
          <p:cNvSpPr txBox="1"/>
          <p:nvPr/>
        </p:nvSpPr>
        <p:spPr>
          <a:xfrm>
            <a:off x="9418320" y="6492240"/>
            <a:ext cx="2066543" cy="274320"/>
          </a:xfrm>
          <a:prstGeom prst="rect">
            <a:avLst/>
          </a:prstGeom>
          <a:noFill/>
        </p:spPr>
        <p:txBody>
          <a:bodyPr wrap="square" anchor="t" lIns="0" rIns="0" tIns="0" bIns="0">
            <a:spAutoFit/>
          </a:bodyPr>
          <a:lstStyle/>
          <a:p>
            <a:pPr algn="r"/>
            <a:r>
              <a:rPr sz="900" b="1">
                <a:solidFill>
                  <a:srgbClr val="8A96A3"/>
                </a:solidFill>
                <a:latin typeface="Segoe UI"/>
              </a:rPr>
              <a:t>BACKUP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